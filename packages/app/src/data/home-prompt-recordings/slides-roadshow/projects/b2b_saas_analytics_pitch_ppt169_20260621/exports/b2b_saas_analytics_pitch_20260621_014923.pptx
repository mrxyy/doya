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开场先把视角放在市场变化上：企业并不缺报表，真正缺的是从数据到行动的闭环。我们做的是面向 B2B 企业的分析平台，把指标、洞察和业务动作连成一条可复用的增长系统。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客户已经有数仓、BI 和分析团队，但业务部门仍然要等解释、开会对齐，再人工推动动作。机会不在替代已有系统，而是在补上洞察到行动之间的断点。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预算正在从“更多看板”转向“能证明结果”的分析层。CFO、RevOps 和业务负责人愿意为减少决策延迟、降低分析交付成本、提升增长动作复盘能力付费。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我们的产品从连接器开始，向上统一指标语义，再通过 AI 洞察代理解释异常、归因变化，最后把建议推送到业务系统。它不是单点工具，而是一条可治理的工作流。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早期牵引力可以从三个信号判断：部署更快、客户扩展更多、净收入留存更高。这里的曲线是路演模型占位，实际路演可替换为 ARR、客户数和 cohort 数据。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护城河不是单个模型，而是客户语境的沉淀。每一次指标定义、洞察确认和业务动作，都会让平台更理解企业如何经营，从而形成语义资产和反馈飞轮。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GTM 从高痛点团队切入，例如 RevOps、增长和财务分析。先用一个团队证明业务结果，再通过指标治理、权限和模板扩展到多团队，最终成为企业标准。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商业模型由平台订阅、席位扩展和工作流量共同驱动。这样既保留 SaaS 毛利结构，也能随着客户使用深度自然扩展收入。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未来 18 个月的重点不是盲目扩张，而是把产品验证变成可重复增长机器。资金会集中投向语义层、可靠性、安全合规、企业销售和客户成功体系。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最后回到融资逻辑：本轮资金买的是可验证的增长拐点。融资金额和里程碑可以替换为实际计划，但投资主题很清楚：把已经出现的产品牵引力转化为可复制的收入增长。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b222bb89ecc17800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1820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01820">
                    <a:alpha val="96000"/>
                  </a:srgbClr>
                </a:gs>
                <a:gs pos="48000">
                  <a:srgbClr val="101820">
                    <a:alpha val="82000"/>
                  </a:srgbClr>
                </a:gs>
                <a:gs pos="100000">
                  <a:srgbClr val="101820">
                    <a:alpha val="34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FBF71">
                    <a:alpha val="24000"/>
                  </a:srgbClr>
                </a:gs>
                <a:gs pos="100000">
                  <a:srgbClr val="2FBF71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609600" y="6019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33516D">
                  <a:alpha val="55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19125" y="771049"/>
            <a:ext cx="8048625" cy="3077051"/>
            <a:chOff x="619125" y="771049"/>
            <a:chExt cx="8048625" cy="3077051"/>
          </a:xfrm>
        </p:grpSpPr>
        <p:sp>
          <p:nvSpPr>
            <p:cNvPr id="8" name="TextBox 8"/>
            <p:cNvSpPr txBox="1"/>
            <p:nvPr/>
          </p:nvSpPr>
          <p:spPr>
            <a:xfrm>
              <a:off x="673418" y="771049"/>
              <a:ext cx="15784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FBF71"/>
                  </a:solidFill>
                  <a:latin typeface="Consolas"/>
                  <a:ea typeface="Microsoft YaHei"/>
                  <a:cs typeface="Consolas"/>
                </a:rPr>
                <a:t>B2B SAAS ANALYTICS PITCH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19125" y="1624012"/>
              <a:ext cx="7134225" cy="1847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150"/>
                </a:lnSpc>
              </a:pPr>
              <a:r>
                <a:rPr lang="zh-CN" sz="52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数据团队正在从</a:t>
              </a:r>
              <a:r>
                <a:rPr lang="zh-CN" sz="52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报表工厂转向收入引擎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040" y="3482340"/>
              <a:ext cx="79667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面向企业级客户的分析平台，将指标、洞察和行动编排成可复用增长系统。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85800" y="4533900"/>
            <a:ext cx="8406841" cy="933450"/>
            <a:chOff x="685800" y="4533900"/>
            <a:chExt cx="8406841" cy="933450"/>
          </a:xfrm>
        </p:grpSpPr>
        <p:sp>
          <p:nvSpPr>
            <p:cNvPr id="12" name="Rectangle 12"/>
            <p:cNvSpPr/>
            <p:nvPr/>
          </p:nvSpPr>
          <p:spPr>
            <a:xfrm>
              <a:off x="685800" y="4533900"/>
              <a:ext cx="2362200" cy="914400"/>
            </a:xfrm>
            <a:prstGeom prst="roundRect">
              <a:avLst>
                <a:gd name="adj" fmla="val 6250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2018" y="47715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MARKET SHIFT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3920" y="4979670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BF71"/>
                  </a:solidFill>
                  <a:latin typeface="Georgia"/>
                  <a:ea typeface="SimSun"/>
                  <a:cs typeface="Georgia"/>
                </a:rPr>
                <a:t>决策自动化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314700" y="4533900"/>
              <a:ext cx="2362200" cy="914400"/>
            </a:xfrm>
            <a:prstGeom prst="roundRect">
              <a:avLst>
                <a:gd name="adj" fmla="val 6250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30918" y="4771549"/>
              <a:ext cx="382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BUYER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12820" y="4979670"/>
              <a:ext cx="224523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CFO + RevOps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943600" y="4533900"/>
              <a:ext cx="2362200" cy="914400"/>
            </a:xfrm>
            <a:prstGeom prst="roundRect">
              <a:avLst>
                <a:gd name="adj" fmla="val 6250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59818" y="4771549"/>
              <a:ext cx="4993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MOTION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41720" y="4979670"/>
              <a:ext cx="295092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7B61FF"/>
                  </a:solidFill>
                  <a:latin typeface="Georgia"/>
                  <a:ea typeface="SimSun"/>
                  <a:cs typeface="Georgia"/>
                </a:rPr>
                <a:t>PLG to Enterprise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3418" y="6162675"/>
            <a:ext cx="10663713" cy="273844"/>
            <a:chOff x="673418" y="6162675"/>
            <a:chExt cx="10663713" cy="273844"/>
          </a:xfrm>
        </p:grpSpPr>
        <p:sp>
          <p:nvSpPr>
            <p:cNvPr id="22" name="TextBox 22"/>
            <p:cNvSpPr txBox="1"/>
            <p:nvPr/>
          </p:nvSpPr>
          <p:spPr>
            <a:xfrm>
              <a:off x="673418" y="6238399"/>
              <a:ext cx="17019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投资人路演稿 · 10 页 · 2026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1122819" y="6162675"/>
              <a:ext cx="214312" cy="200025"/>
              <a:chOff x="11122819" y="6162675"/>
              <a:chExt cx="214312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1194256" y="62103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265694" y="6234112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238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229975" y="6246019"/>
                <a:ext cx="9525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906">
                    <a:moveTo>
                      <a:pt x="0" y="11906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1122819" y="6162675"/>
                <a:ext cx="2143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">
                    <a:moveTo>
                      <a:pt x="0" y="0"/>
                    </a:moveTo>
                    <a:lnTo>
                      <a:pt x="214312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1134725" y="6162675"/>
                <a:ext cx="1905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42875">
                    <a:moveTo>
                      <a:pt x="0" y="0"/>
                    </a:moveTo>
                    <a:lnTo>
                      <a:pt x="0" y="119062"/>
                    </a:lnTo>
                    <a:cubicBezTo>
                      <a:pt x="0" y="132214"/>
                      <a:pt x="10661" y="142875"/>
                      <a:pt x="23812" y="142875"/>
                    </a:cubicBezTo>
                    <a:lnTo>
                      <a:pt x="166688" y="142875"/>
                    </a:lnTo>
                    <a:cubicBezTo>
                      <a:pt x="179839" y="142875"/>
                      <a:pt x="190500" y="132214"/>
                      <a:pt x="190500" y="119062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229975" y="630555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194256" y="6353175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1820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5200650"/>
              <a:ext cx="12192000" cy="1038225"/>
            </a:xfrm>
            <a:custGeom>
              <a:avLst/>
              <a:gdLst/>
              <a:ahLst/>
              <a:cxnLst/>
              <a:rect l="l" t="t" r="r" b="b"/>
              <a:pathLst>
                <a:path w="12192000" h="1038225">
                  <a:moveTo>
                    <a:pt x="0" y="609600"/>
                  </a:moveTo>
                  <a:cubicBezTo>
                    <a:pt x="2095500" y="133350"/>
                    <a:pt x="3143250" y="1038225"/>
                    <a:pt x="5334000" y="571500"/>
                  </a:cubicBezTo>
                  <a:cubicBezTo>
                    <a:pt x="7667625" y="76200"/>
                    <a:pt x="9201150" y="533400"/>
                    <a:pt x="12192000" y="0"/>
                  </a:cubicBezTo>
                </a:path>
              </a:pathLst>
            </a:custGeom>
            <a:noFill/>
            <a:ln w="9525">
              <a:solidFill>
                <a:srgbClr val="22364D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33516D">
                  <a:alpha val="55000"/>
                </a:srgbClr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7215" y="561499"/>
            <a:ext cx="5777484" cy="738663"/>
            <a:chOff x="577215" y="561499"/>
            <a:chExt cx="5777484" cy="738663"/>
          </a:xfrm>
        </p:grpSpPr>
        <p:sp>
          <p:nvSpPr>
            <p:cNvPr id="6" name="TextBox 6"/>
            <p:cNvSpPr txBox="1"/>
            <p:nvPr/>
          </p:nvSpPr>
          <p:spPr>
            <a:xfrm>
              <a:off x="597218" y="561499"/>
              <a:ext cx="8633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FBF71"/>
                  </a:solidFill>
                  <a:latin typeface="Consolas"/>
                  <a:ea typeface="Microsoft YaHei"/>
                  <a:cs typeface="Consolas"/>
                </a:rPr>
                <a:t>01 · WHY NOW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77215" y="782002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痛点不是缺数据，而是决策闭环断了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800" y="1619250"/>
            <a:ext cx="3619500" cy="3829050"/>
            <a:chOff x="685800" y="1619250"/>
            <a:chExt cx="3619500" cy="3829050"/>
          </a:xfrm>
        </p:grpSpPr>
        <p:sp>
          <p:nvSpPr>
            <p:cNvPr id="9" name="Rectangle 9"/>
            <p:cNvSpPr/>
            <p:nvPr/>
          </p:nvSpPr>
          <p:spPr>
            <a:xfrm>
              <a:off x="685800" y="1619250"/>
              <a:ext cx="3619500" cy="3829050"/>
            </a:xfrm>
            <a:prstGeom prst="roundRect">
              <a:avLst>
                <a:gd name="adj" fmla="val 1579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78218" y="19521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CURRENT STACK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047750" y="2443162"/>
              <a:ext cx="228600" cy="257176"/>
              <a:chOff x="1047750" y="2443162"/>
              <a:chExt cx="228600" cy="25717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47750" y="244316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7750" y="248602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7750" y="257175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504950" y="24860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数仓和数据湖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47750" y="3248025"/>
              <a:ext cx="228600" cy="195262"/>
              <a:chOff x="1047750" y="3248025"/>
              <a:chExt cx="228600" cy="19526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047750" y="3433762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47750" y="324802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128588"/>
                    </a:moveTo>
                    <a:lnTo>
                      <a:pt x="57150" y="42862"/>
                    </a:lnTo>
                    <a:lnTo>
                      <a:pt x="114300" y="71438"/>
                    </a:lnTo>
                    <a:lnTo>
                      <a:pt x="171450" y="0"/>
                    </a:lnTo>
                    <a:lnTo>
                      <a:pt x="228600" y="57150"/>
                    </a:ln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504950" y="3248025"/>
              <a:ext cx="126825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BI 看板和报表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033462" y="3967162"/>
              <a:ext cx="257175" cy="257176"/>
              <a:chOff x="1033462" y="3967162"/>
              <a:chExt cx="257175" cy="25717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062038" y="39671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33462" y="413861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219200" y="396902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247775" y="414075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504950" y="401002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分析师和业务团队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4408" y="4777264"/>
              <a:ext cx="2461260" cy="506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系统都在，但问题仍靠会议、截图</a:t>
              </a:r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和人工解释流转，行动没有闭环。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717608" y="1581150"/>
            <a:ext cx="4503420" cy="3817144"/>
            <a:chOff x="3717608" y="1581150"/>
            <a:chExt cx="4503420" cy="3817144"/>
          </a:xfrm>
        </p:grpSpPr>
        <p:sp>
          <p:nvSpPr>
            <p:cNvPr id="28" name="Ellipse 28"/>
            <p:cNvSpPr/>
            <p:nvPr/>
          </p:nvSpPr>
          <p:spPr>
            <a:xfrm>
              <a:off x="4552950" y="1905000"/>
              <a:ext cx="3200400" cy="3200400"/>
            </a:xfrm>
            <a:prstGeom prst="ellipse">
              <a:avLst/>
            </a:prstGeom>
            <a:noFill/>
            <a:ln w="19050">
              <a:solidFill>
                <a:srgbClr val="33516D"/>
              </a:solidFill>
              <a:custDash>
                <a:ds d="450000" sp="500000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5086350" y="1581150"/>
              <a:ext cx="2628900" cy="1562100"/>
            </a:xfrm>
            <a:custGeom>
              <a:avLst/>
              <a:gdLst/>
              <a:ahLst/>
              <a:cxnLst/>
              <a:rect l="l" t="t" r="r" b="b"/>
              <a:pathLst>
                <a:path w="2628900" h="1562100">
                  <a:moveTo>
                    <a:pt x="0" y="781050"/>
                  </a:moveTo>
                  <a:cubicBezTo>
                    <a:pt x="838200" y="0"/>
                    <a:pt x="2381250" y="381000"/>
                    <a:pt x="2628900" y="1562100"/>
                  </a:cubicBezTo>
                </a:path>
              </a:pathLst>
            </a:custGeom>
            <a:noFill/>
            <a:ln w="38100">
              <a:solidFill>
                <a:srgbClr val="2FBF71"/>
              </a:solidFill>
              <a:tailEnd type="triangle" w="lg" len="lg"/>
            </a:ln>
          </p:spPr>
        </p:sp>
        <p:sp>
          <p:nvSpPr>
            <p:cNvPr id="30" name="Freeform 30"/>
            <p:cNvSpPr/>
            <p:nvPr/>
          </p:nvSpPr>
          <p:spPr>
            <a:xfrm>
              <a:off x="4695825" y="3790950"/>
              <a:ext cx="2781300" cy="1543050"/>
            </a:xfrm>
            <a:custGeom>
              <a:avLst/>
              <a:gdLst/>
              <a:ahLst/>
              <a:cxnLst/>
              <a:rect l="l" t="t" r="r" b="b"/>
              <a:pathLst>
                <a:path w="2781300" h="1543050">
                  <a:moveTo>
                    <a:pt x="2781300" y="647700"/>
                  </a:moveTo>
                  <a:cubicBezTo>
                    <a:pt x="1876425" y="1543050"/>
                    <a:pt x="409575" y="1104900"/>
                    <a:pt x="0" y="0"/>
                  </a:cubicBezTo>
                </a:path>
              </a:pathLst>
            </a:custGeom>
            <a:noFill/>
            <a:ln w="38100">
              <a:solidFill>
                <a:srgbClr val="FF6B6B"/>
              </a:solidFill>
              <a:custDash>
                <a:ds d="200000" sp="225000"/>
              </a:custDash>
            </a:ln>
          </p:spPr>
        </p:sp>
        <p:sp>
          <p:nvSpPr>
            <p:cNvPr id="31" name="Ellipse 31"/>
            <p:cNvSpPr/>
            <p:nvPr/>
          </p:nvSpPr>
          <p:spPr>
            <a:xfrm>
              <a:off x="5410200" y="2762250"/>
              <a:ext cx="1485900" cy="1485900"/>
            </a:xfrm>
            <a:prstGeom prst="ellipse">
              <a:avLst/>
            </a:prstGeom>
            <a:solidFill>
              <a:srgbClr val="17324D"/>
            </a:solidFill>
            <a:ln w="19050">
              <a:solidFill>
                <a:srgbClr val="7B61F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560362" y="3172301"/>
              <a:ext cx="118557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5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行动断点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355015" y="3583781"/>
              <a:ext cx="15962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INSIGHT TO ACTION GAP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41508" y="190071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发现问题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08558" y="285321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解释原因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13258" y="513921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推动动作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17608" y="435816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复盘缺失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686800" y="1619250"/>
            <a:ext cx="2819400" cy="3924300"/>
            <a:chOff x="8686800" y="1619250"/>
            <a:chExt cx="2819400" cy="3924300"/>
          </a:xfrm>
        </p:grpSpPr>
        <p:sp>
          <p:nvSpPr>
            <p:cNvPr id="39" name="Rectangle 39"/>
            <p:cNvSpPr/>
            <p:nvPr/>
          </p:nvSpPr>
          <p:spPr>
            <a:xfrm>
              <a:off x="8686800" y="1619250"/>
              <a:ext cx="2819400" cy="3829050"/>
            </a:xfrm>
            <a:prstGeom prst="roundRect">
              <a:avLst>
                <a:gd name="adj" fmla="val 2027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79218" y="1952149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INVESTOR READ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51595" y="2307908"/>
              <a:ext cx="177807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FBF71"/>
                  </a:solidFill>
                  <a:latin typeface="Georgia"/>
                  <a:ea typeface="SimSun"/>
                  <a:cs typeface="Georgia"/>
                </a:rPr>
                <a:t>3 个断点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74455" y="29975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指标争议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74455" y="34928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洞察等待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74455" y="398811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行动不可追踪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991600" y="4572000"/>
              <a:ext cx="1981200" cy="9525"/>
            </a:xfrm>
            <a:prstGeom prst="rect">
              <a:avLst/>
            </a:prstGeom>
            <a:solidFill>
              <a:srgbClr val="33516D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76360" y="4842510"/>
              <a:ext cx="140208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机会不在替代 BI，</a:t>
              </a:r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而在补上决策系统的</a:t>
              </a:r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最后一公里。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99122" y="6292691"/>
            <a:ext cx="21992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A9B7C7"/>
                </a:solidFill>
                <a:latin typeface="Arial"/>
                <a:ea typeface="Microsoft YaHei"/>
                <a:cs typeface="Arial"/>
              </a:rPr>
              <a:t>P02 · 数据栈成熟反而暴露出行动闭环的缺口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1820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33516D">
                  <a:alpha val="55000"/>
                </a:srgbClr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7215" y="561499"/>
            <a:ext cx="6527278" cy="738663"/>
            <a:chOff x="577215" y="561499"/>
            <a:chExt cx="6527278" cy="738663"/>
          </a:xfrm>
        </p:grpSpPr>
        <p:sp>
          <p:nvSpPr>
            <p:cNvPr id="5" name="TextBox 5"/>
            <p:cNvSpPr txBox="1"/>
            <p:nvPr/>
          </p:nvSpPr>
          <p:spPr>
            <a:xfrm>
              <a:off x="597218" y="561499"/>
              <a:ext cx="1097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FBF71"/>
                  </a:solidFill>
                  <a:latin typeface="Consolas"/>
                  <a:ea typeface="Microsoft YaHei"/>
                  <a:cs typeface="Consolas"/>
                </a:rPr>
                <a:t>02 · MARKET PULL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7215" y="782002"/>
              <a:ext cx="652727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预算正在流向“能证明业务结果”的分析层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1524000"/>
            <a:ext cx="7239000" cy="4343400"/>
            <a:chOff x="609600" y="1524000"/>
            <a:chExt cx="7239000" cy="4343400"/>
          </a:xfrm>
        </p:grpSpPr>
        <p:sp>
          <p:nvSpPr>
            <p:cNvPr id="8" name="Rectangle 8"/>
            <p:cNvSpPr/>
            <p:nvPr/>
          </p:nvSpPr>
          <p:spPr>
            <a:xfrm>
              <a:off x="609600" y="1524000"/>
              <a:ext cx="7239000" cy="4343400"/>
            </a:xfrm>
            <a:prstGeom prst="roundRect">
              <a:avLst>
                <a:gd name="adj" fmla="val 1316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333750" y="213360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9525">
              <a:solidFill>
                <a:srgbClr val="33516D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591050" y="213360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9525">
              <a:solidFill>
                <a:srgbClr val="22364D"/>
              </a:solidFill>
              <a:custDash>
                <a:ds d="500000" sp="700000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5848350" y="213360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9525">
              <a:solidFill>
                <a:srgbClr val="22364D"/>
              </a:solidFill>
              <a:custDash>
                <a:ds d="500000" sp="7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7105650" y="2133600"/>
              <a:ext cx="9525" cy="3086100"/>
            </a:xfrm>
            <a:custGeom>
              <a:avLst/>
              <a:gdLst/>
              <a:ahLst/>
              <a:cxnLst/>
              <a:rect l="l" t="t" r="r" b="b"/>
              <a:pathLst>
                <a:path w="9525" h="3086100">
                  <a:moveTo>
                    <a:pt x="0" y="0"/>
                  </a:moveTo>
                  <a:lnTo>
                    <a:pt x="0" y="3086100"/>
                  </a:lnTo>
                </a:path>
              </a:pathLst>
            </a:custGeom>
            <a:noFill/>
            <a:ln w="9525">
              <a:solidFill>
                <a:srgbClr val="22364D"/>
              </a:solidFill>
              <a:custDash>
                <a:ds d="500000" sp="700000"/>
              </a:custDash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2970" y="1864995"/>
              <a:ext cx="1163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PAIN INTENSITY INDEX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55966" y="5379720"/>
              <a:ext cx="888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3612" y="5379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35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70912" y="5379720"/>
              <a:ext cx="154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70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95208" y="5379720"/>
              <a:ext cx="2208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100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8208" y="238648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决策延迟影响收入节奏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333750" y="2305050"/>
              <a:ext cx="3390900" cy="266700"/>
            </a:xfrm>
            <a:prstGeom prst="roundRect">
              <a:avLst>
                <a:gd name="adj" fmla="val 14286"/>
              </a:avLst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81812" y="2383631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7F4ED"/>
                  </a:solidFill>
                  <a:latin typeface="Consolas"/>
                  <a:ea typeface="Microsoft YaHei"/>
                  <a:cs typeface="Consolas"/>
                </a:rPr>
                <a:t>90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8208" y="2977039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指标口径争议拖慢协作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33750" y="2895600"/>
              <a:ext cx="3028950" cy="266700"/>
            </a:xfrm>
            <a:prstGeom prst="roundRect">
              <a:avLst>
                <a:gd name="adj" fmla="val 14286"/>
              </a:avLst>
            </a:prstGeom>
            <a:solidFill>
              <a:srgbClr val="2FBF71">
                <a:alpha val="86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9862" y="2974181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7F4ED"/>
                  </a:solidFill>
                  <a:latin typeface="Consolas"/>
                  <a:ea typeface="Microsoft YaHei"/>
                  <a:cs typeface="Consolas"/>
                </a:rPr>
                <a:t>80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8208" y="3567589"/>
              <a:ext cx="22426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分析请求堆积，人力扩张低效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33750" y="3486150"/>
              <a:ext cx="2724150" cy="266700"/>
            </a:xfrm>
            <a:prstGeom prst="roundRect">
              <a:avLst>
                <a:gd name="adj" fmla="val 14286"/>
              </a:avLst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15062" y="3564731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7F4ED"/>
                  </a:solidFill>
                  <a:latin typeface="Consolas"/>
                  <a:ea typeface="Microsoft YaHei"/>
                  <a:cs typeface="Consolas"/>
                </a:rPr>
                <a:t>72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208" y="4158139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增长动作无法复盘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333750" y="4076700"/>
              <a:ext cx="2419350" cy="266700"/>
            </a:xfrm>
            <a:prstGeom prst="roundRect">
              <a:avLst>
                <a:gd name="adj" fmla="val 14286"/>
              </a:avLst>
            </a:prstGeom>
            <a:solidFill>
              <a:srgbClr val="7B61FF">
                <a:alpha val="86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10262" y="4155281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7F4ED"/>
                  </a:solidFill>
                  <a:latin typeface="Consolas"/>
                  <a:ea typeface="Microsoft YaHei"/>
                  <a:cs typeface="Consolas"/>
                </a:rPr>
                <a:t>64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8208" y="4748689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工具总拥有成本继续上升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333750" y="4667250"/>
              <a:ext cx="2152650" cy="266700"/>
            </a:xfrm>
            <a:prstGeom prst="roundRect">
              <a:avLst>
                <a:gd name="adj" fmla="val 14286"/>
              </a:avLst>
            </a:prstGeom>
            <a:solidFill>
              <a:srgbClr val="A9B7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43562" y="4745831"/>
              <a:ext cx="1935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7F4ED"/>
                  </a:solidFill>
                  <a:latin typeface="Consolas"/>
                  <a:ea typeface="Microsoft YaHei"/>
                  <a:cs typeface="Consolas"/>
                </a:rPr>
                <a:t>57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229600" y="1524000"/>
            <a:ext cx="3352800" cy="4343400"/>
            <a:chOff x="8229600" y="1524000"/>
            <a:chExt cx="3352800" cy="4343400"/>
          </a:xfrm>
        </p:grpSpPr>
        <p:sp>
          <p:nvSpPr>
            <p:cNvPr id="34" name="Rectangle 34"/>
            <p:cNvSpPr/>
            <p:nvPr/>
          </p:nvSpPr>
          <p:spPr>
            <a:xfrm>
              <a:off x="8229600" y="1524000"/>
              <a:ext cx="3352800" cy="4343400"/>
            </a:xfrm>
            <a:prstGeom prst="roundRect">
              <a:avLst>
                <a:gd name="adj" fmla="val 1705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22970" y="1864995"/>
              <a:ext cx="568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WHO PAYS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8584406" y="2316956"/>
              <a:ext cx="300038" cy="309563"/>
              <a:chOff x="8584406" y="2316956"/>
              <a:chExt cx="300038" cy="30956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584406" y="2616994"/>
                <a:ext cx="3000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9525">
                    <a:moveTo>
                      <a:pt x="0" y="0"/>
                    </a:moveTo>
                    <a:lnTo>
                      <a:pt x="300038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617744" y="2316956"/>
                <a:ext cx="133350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300038">
                    <a:moveTo>
                      <a:pt x="0" y="300038"/>
                    </a:moveTo>
                    <a:lnTo>
                      <a:pt x="0" y="66675"/>
                    </a:lnTo>
                    <a:lnTo>
                      <a:pt x="133350" y="0"/>
                    </a:lnTo>
                    <a:lnTo>
                      <a:pt x="133350" y="300038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51094" y="2383631"/>
                <a:ext cx="10001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233362">
                    <a:moveTo>
                      <a:pt x="100012" y="233362"/>
                    </a:moveTo>
                    <a:lnTo>
                      <a:pt x="100012" y="6667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684419" y="241696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684419" y="24669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684419" y="25169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684419" y="25669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9096375" y="2309812"/>
              <a:ext cx="163234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企业业务线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17255" y="2959418"/>
              <a:ext cx="228028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付费理由不是“多一个看板”，</a:t>
              </a:r>
              <a:r>
                <a:rPr lang="zh-CN" sz="135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而是减少决策延迟、证明动作</a:t>
              </a:r>
              <a:r>
                <a:rPr lang="zh-CN" sz="135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效果，并降低分析交付成本。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534400" y="4171950"/>
              <a:ext cx="2476500" cy="9525"/>
            </a:xfrm>
            <a:prstGeom prst="rect">
              <a:avLst/>
            </a:prstGeom>
            <a:solidFill>
              <a:srgbClr val="33516D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88680" y="4278630"/>
              <a:ext cx="1023957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7B61FF"/>
                  </a:solidFill>
                  <a:latin typeface="Georgia"/>
                  <a:ea typeface="SimSun"/>
                  <a:cs typeface="Georgia"/>
                </a:rPr>
                <a:t>CFO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93580" y="4278630"/>
              <a:ext cx="185566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2FBF71"/>
                  </a:solidFill>
                  <a:latin typeface="Georgia"/>
                  <a:ea typeface="SimSun"/>
                  <a:cs typeface="Georgia"/>
                </a:rPr>
                <a:t>RevOps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19160" y="49949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从成本中心预算转向增长效率预算。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99122" y="6292691"/>
            <a:ext cx="31893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A9B7C7"/>
                </a:solidFill>
                <a:latin typeface="Arial"/>
                <a:ea typeface="Microsoft YaHei"/>
                <a:cs typeface="Arial"/>
              </a:rPr>
              <a:t>P03 · 排名为路演假设，用于表达优先级，可替换为客户调研数据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1820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33516D">
                  <a:alpha val="55000"/>
                </a:srgbClr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7215" y="561499"/>
            <a:ext cx="6848618" cy="738663"/>
            <a:chOff x="577215" y="561499"/>
            <a:chExt cx="6848618" cy="738663"/>
          </a:xfrm>
        </p:grpSpPr>
        <p:sp>
          <p:nvSpPr>
            <p:cNvPr id="5" name="TextBox 5"/>
            <p:cNvSpPr txBox="1"/>
            <p:nvPr/>
          </p:nvSpPr>
          <p:spPr>
            <a:xfrm>
              <a:off x="597218" y="5614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FBF71"/>
                  </a:solidFill>
                  <a:latin typeface="Consolas"/>
                  <a:ea typeface="Microsoft YaHei"/>
                  <a:cs typeface="Consolas"/>
                </a:rPr>
                <a:t>03 · PRODUCT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7215" y="782002"/>
              <a:ext cx="684861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我们把指标、洞察和行动编排成一个工作流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19150" y="1581150"/>
            <a:ext cx="10553700" cy="4267200"/>
            <a:chOff x="819150" y="1581150"/>
            <a:chExt cx="10553700" cy="4267200"/>
          </a:xfrm>
        </p:grpSpPr>
        <p:sp>
          <p:nvSpPr>
            <p:cNvPr id="8" name="Rectangle 8"/>
            <p:cNvSpPr/>
            <p:nvPr/>
          </p:nvSpPr>
          <p:spPr>
            <a:xfrm>
              <a:off x="819150" y="1581150"/>
              <a:ext cx="10553700" cy="4267200"/>
            </a:xfrm>
            <a:prstGeom prst="roundRect">
              <a:avLst>
                <a:gd name="adj" fmla="val 1339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238250" y="4648200"/>
              <a:ext cx="9715500" cy="742950"/>
              <a:chOff x="1238250" y="4648200"/>
              <a:chExt cx="9715500" cy="7429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238250" y="4648200"/>
                <a:ext cx="9715500" cy="742950"/>
              </a:xfrm>
              <a:prstGeom prst="roundRect">
                <a:avLst>
                  <a:gd name="adj" fmla="val 7692"/>
                </a:avLst>
              </a:prstGeom>
              <a:solidFill>
                <a:srgbClr val="17324D"/>
              </a:solidFill>
              <a:ln w="9525">
                <a:solidFill>
                  <a:srgbClr val="33516D"/>
                </a:solidFill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517650" y="4905375"/>
                <a:ext cx="203199" cy="228600"/>
                <a:chOff x="1517650" y="4905375"/>
                <a:chExt cx="203199" cy="2286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517650" y="4905375"/>
                  <a:ext cx="203199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76200">
                      <a:moveTo>
                        <a:pt x="0" y="38100"/>
                      </a:moveTo>
                      <a:cubicBezTo>
                        <a:pt x="0" y="59142"/>
                        <a:pt x="45488" y="76200"/>
                        <a:pt x="101600" y="76200"/>
                      </a:cubicBezTo>
                      <a:cubicBezTo>
                        <a:pt x="157712" y="76200"/>
                        <a:pt x="203199" y="59142"/>
                        <a:pt x="203199" y="38100"/>
                      </a:cubicBezTo>
                      <a:cubicBezTo>
                        <a:pt x="203199" y="17058"/>
                        <a:pt x="157712" y="0"/>
                        <a:pt x="101600" y="0"/>
                      </a:cubicBezTo>
                      <a:cubicBezTo>
                        <a:pt x="4548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517650" y="4943475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517650" y="5019675"/>
                  <a:ext cx="203199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14300">
                      <a:moveTo>
                        <a:pt x="0" y="0"/>
                      </a:moveTo>
                      <a:lnTo>
                        <a:pt x="0" y="76200"/>
                      </a:lnTo>
                      <a:cubicBezTo>
                        <a:pt x="0" y="97242"/>
                        <a:pt x="45488" y="114300"/>
                        <a:pt x="101600" y="114300"/>
                      </a:cubicBezTo>
                      <a:cubicBezTo>
                        <a:pt x="157712" y="114300"/>
                        <a:pt x="203199" y="97242"/>
                        <a:pt x="203199" y="76200"/>
                      </a:cubicBez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931670" y="4855845"/>
                <a:ext cx="52092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9B7C7"/>
                    </a:solidFill>
                    <a:latin typeface="Consolas"/>
                    <a:ea typeface="Microsoft YaHei"/>
                    <a:cs typeface="Consolas"/>
                  </a:rPr>
                  <a:t>LAYER 01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924050" y="5057775"/>
                <a:ext cx="40386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7F4ED"/>
                    </a:solidFill>
                    <a:latin typeface="Arial"/>
                    <a:ea typeface="Microsoft YaHei"/>
                    <a:cs typeface="Arial"/>
                  </a:rPr>
                  <a:t>连接器层 · 数仓、CRM、产品行为、财务系统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238250" y="3638550"/>
              <a:ext cx="9715500" cy="742950"/>
              <a:chOff x="1238250" y="3638550"/>
              <a:chExt cx="9715500" cy="7429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238250" y="3638550"/>
                <a:ext cx="9715500" cy="742950"/>
              </a:xfrm>
              <a:prstGeom prst="roundRect">
                <a:avLst>
                  <a:gd name="adj" fmla="val 7692"/>
                </a:avLst>
              </a:prstGeom>
              <a:solidFill>
                <a:srgbClr val="17324D"/>
              </a:solidFill>
              <a:ln w="9525">
                <a:solidFill>
                  <a:srgbClr val="33516D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1517650" y="3933825"/>
                <a:ext cx="203199" cy="152400"/>
                <a:chOff x="1517650" y="3933825"/>
                <a:chExt cx="203199" cy="1524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1517650" y="3933825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101600" y="0"/>
                      </a:moveTo>
                      <a:lnTo>
                        <a:pt x="0" y="50800"/>
                      </a:lnTo>
                      <a:lnTo>
                        <a:pt x="101600" y="101600"/>
                      </a:lnTo>
                      <a:lnTo>
                        <a:pt x="203199" y="50800"/>
                      </a:lnTo>
                      <a:lnTo>
                        <a:pt x="101600" y="0"/>
                      </a:lnTo>
                    </a:path>
                  </a:pathLst>
                </a:custGeom>
                <a:noFill/>
                <a:ln w="19050">
                  <a:solidFill>
                    <a:srgbClr val="7B61FF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1517650" y="4035425"/>
                  <a:ext cx="203199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50800">
                      <a:moveTo>
                        <a:pt x="0" y="0"/>
                      </a:moveTo>
                      <a:lnTo>
                        <a:pt x="101600" y="508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19050">
                  <a:solidFill>
                    <a:srgbClr val="7B61FF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931670" y="3846195"/>
                <a:ext cx="52092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9B7C7"/>
                    </a:solidFill>
                    <a:latin typeface="Consolas"/>
                    <a:ea typeface="Microsoft YaHei"/>
                    <a:cs typeface="Consolas"/>
                  </a:rPr>
                  <a:t>LAYER 02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924050" y="4048125"/>
                <a:ext cx="406860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7F4ED"/>
                    </a:solidFill>
                    <a:latin typeface="Arial"/>
                    <a:ea typeface="Microsoft YaHei"/>
                    <a:cs typeface="Arial"/>
                  </a:rPr>
                  <a:t>语义指标层 · 指标口径、权限治理、行业模板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1238250" y="2628900"/>
              <a:ext cx="9715500" cy="742950"/>
              <a:chOff x="1238250" y="2628900"/>
              <a:chExt cx="9715500" cy="7429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1238250" y="2628900"/>
                <a:ext cx="9715500" cy="742950"/>
              </a:xfrm>
              <a:prstGeom prst="roundRect">
                <a:avLst>
                  <a:gd name="adj" fmla="val 7692"/>
                </a:avLst>
              </a:prstGeom>
              <a:solidFill>
                <a:srgbClr val="17324D"/>
              </a:solidFill>
              <a:ln w="9525">
                <a:solidFill>
                  <a:srgbClr val="33516D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1504950" y="2886075"/>
                <a:ext cx="228599" cy="228600"/>
                <a:chOff x="1504950" y="2886075"/>
                <a:chExt cx="228599" cy="228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1619250" y="3013075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19901" y="0"/>
                        <a:pt x="0" y="19901"/>
                        <a:pt x="0" y="44450"/>
                      </a:cubicBezTo>
                      <a:lnTo>
                        <a:pt x="0" y="57150"/>
                      </a:lnTo>
                      <a:cubicBezTo>
                        <a:pt x="0" y="81699"/>
                        <a:pt x="19901" y="101600"/>
                        <a:pt x="44450" y="101600"/>
                      </a:cubicBezTo>
                      <a:cubicBezTo>
                        <a:pt x="68999" y="101600"/>
                        <a:pt x="88900" y="81699"/>
                        <a:pt x="88900" y="57150"/>
                      </a:cubicBezTo>
                      <a:lnTo>
                        <a:pt x="88900" y="34290"/>
                      </a:ln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530350" y="3013075"/>
                  <a:ext cx="88900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01600">
                      <a:moveTo>
                        <a:pt x="44450" y="0"/>
                      </a:move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57150"/>
                      </a:lnTo>
                      <a:cubicBezTo>
                        <a:pt x="88900" y="81699"/>
                        <a:pt x="68999" y="101600"/>
                        <a:pt x="44450" y="101600"/>
                      </a:cubicBezTo>
                      <a:cubicBezTo>
                        <a:pt x="19901" y="101600"/>
                        <a:pt x="0" y="81699"/>
                        <a:pt x="0" y="57150"/>
                      </a:cubicBezTo>
                      <a:lnTo>
                        <a:pt x="0" y="34290"/>
                      </a:ln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682749" y="2962275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6350" y="88900"/>
                      </a:moveTo>
                      <a:cubicBezTo>
                        <a:pt x="30899" y="88900"/>
                        <a:pt x="50800" y="68999"/>
                        <a:pt x="50800" y="44450"/>
                      </a:cubicBezTo>
                      <a:cubicBezTo>
                        <a:pt x="50800" y="19901"/>
                        <a:pt x="30899" y="0"/>
                        <a:pt x="6350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619250" y="2886075"/>
                  <a:ext cx="88900" cy="80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0010">
                      <a:moveTo>
                        <a:pt x="88900" y="80010"/>
                      </a:moveTo>
                      <a:lnTo>
                        <a:pt x="88900" y="44450"/>
                      </a:ln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504950" y="2962275"/>
                  <a:ext cx="508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88900">
                      <a:moveTo>
                        <a:pt x="44450" y="88900"/>
                      </a:moveTo>
                      <a:cubicBezTo>
                        <a:pt x="19901" y="88900"/>
                        <a:pt x="0" y="68999"/>
                        <a:pt x="0" y="44450"/>
                      </a:cubicBez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530350" y="2886075"/>
                  <a:ext cx="889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71450">
                      <a:moveTo>
                        <a:pt x="0" y="80010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cubicBezTo>
                        <a:pt x="68999" y="0"/>
                        <a:pt x="88900" y="19901"/>
                        <a:pt x="88900" y="44450"/>
                      </a:cubicBezTo>
                      <a:lnTo>
                        <a:pt x="88900" y="171450"/>
                      </a:ln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931670" y="2836545"/>
                <a:ext cx="52092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A9B7C7"/>
                    </a:solidFill>
                    <a:latin typeface="Consolas"/>
                    <a:ea typeface="Microsoft YaHei"/>
                    <a:cs typeface="Consolas"/>
                  </a:rPr>
                  <a:t>LAYER 03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924050" y="3038475"/>
                <a:ext cx="386857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7F4ED"/>
                    </a:solidFill>
                    <a:latin typeface="Arial"/>
                    <a:ea typeface="Microsoft YaHei"/>
                    <a:cs typeface="Arial"/>
                  </a:rPr>
                  <a:t>洞察代理 · 异常解释、归因分析、建议生成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238250" y="1943100"/>
              <a:ext cx="9715500" cy="457200"/>
              <a:chOff x="1238250" y="1943100"/>
              <a:chExt cx="9715500" cy="4572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1238250" y="1943100"/>
                <a:ext cx="9715500" cy="457200"/>
              </a:xfrm>
              <a:prstGeom prst="roundRect">
                <a:avLst>
                  <a:gd name="adj" fmla="val 12500"/>
                </a:avLst>
              </a:prstGeom>
              <a:solidFill>
                <a:srgbClr val="2FBF71">
                  <a:alpha val="16000"/>
                </a:srgbClr>
              </a:solidFill>
              <a:ln w="9525">
                <a:solidFill>
                  <a:srgbClr val="2FBF71"/>
                </a:solidFill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1502569" y="2055019"/>
                <a:ext cx="214312" cy="214312"/>
                <a:chOff x="1502569" y="2055019"/>
                <a:chExt cx="214312" cy="214312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1502569" y="2221706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23812"/>
                      </a:moveTo>
                      <a:cubicBezTo>
                        <a:pt x="0" y="36964"/>
                        <a:pt x="10661" y="47625"/>
                        <a:pt x="23812" y="47625"/>
                      </a:cubicBez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669256" y="2055019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23812" y="47625"/>
                      </a:moveTo>
                      <a:cubicBezTo>
                        <a:pt x="36964" y="47625"/>
                        <a:pt x="47625" y="36964"/>
                        <a:pt x="47625" y="23812"/>
                      </a:cubicBezTo>
                      <a:cubicBezTo>
                        <a:pt x="47625" y="10661"/>
                        <a:pt x="36964" y="0"/>
                        <a:pt x="23812" y="0"/>
                      </a:cubicBezTo>
                      <a:cubicBezTo>
                        <a:pt x="10661" y="0"/>
                        <a:pt x="0" y="10661"/>
                        <a:pt x="0" y="23812"/>
                      </a:cubicBezTo>
                      <a:cubicBezTo>
                        <a:pt x="0" y="36964"/>
                        <a:pt x="10661" y="47625"/>
                        <a:pt x="23812" y="47625"/>
                      </a:cubicBez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1526381" y="2078831"/>
                  <a:ext cx="178594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4" h="166688">
                      <a:moveTo>
                        <a:pt x="71438" y="166688"/>
                      </a:moveTo>
                      <a:lnTo>
                        <a:pt x="136922" y="166688"/>
                      </a:lnTo>
                      <a:cubicBezTo>
                        <a:pt x="159937" y="166688"/>
                        <a:pt x="178594" y="148030"/>
                        <a:pt x="178594" y="125016"/>
                      </a:cubicBezTo>
                      <a:cubicBezTo>
                        <a:pt x="178594" y="102001"/>
                        <a:pt x="159937" y="83344"/>
                        <a:pt x="136922" y="83344"/>
                      </a:cubicBezTo>
                      <a:lnTo>
                        <a:pt x="41672" y="83344"/>
                      </a:lnTo>
                      <a:cubicBezTo>
                        <a:pt x="18657" y="83344"/>
                        <a:pt x="0" y="64687"/>
                        <a:pt x="0" y="41672"/>
                      </a:cubicBezTo>
                      <a:cubicBezTo>
                        <a:pt x="0" y="18657"/>
                        <a:pt x="18657" y="0"/>
                        <a:pt x="41672" y="0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2FBF71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1924050" y="2076450"/>
                <a:ext cx="459867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7F4ED"/>
                    </a:solidFill>
                    <a:latin typeface="Arial"/>
                    <a:ea typeface="Microsoft YaHei"/>
                    <a:cs typeface="Arial"/>
                  </a:rPr>
                  <a:t>行动编排层 · 推送到 Slack、CRM、工单和增长实验</a:t>
                </a:r>
              </a:p>
            </p:txBody>
          </p:sp>
        </p:grpSp>
        <p:sp>
          <p:nvSpPr>
            <p:cNvPr id="42" name="Line 42"/>
            <p:cNvSpPr/>
            <p:nvPr/>
          </p:nvSpPr>
          <p:spPr>
            <a:xfrm flipV="1">
              <a:off x="6096000" y="4400550"/>
              <a:ext cx="1" cy="247650"/>
            </a:xfrm>
            <a:prstGeom prst="line">
              <a:avLst/>
            </a:prstGeom>
            <a:noFill/>
            <a:ln w="28575">
              <a:solidFill>
                <a:srgbClr val="7B61FF"/>
              </a:solidFill>
              <a:tailEnd type="triangle" w="lg" len="lg"/>
            </a:ln>
          </p:spPr>
        </p:sp>
        <p:sp>
          <p:nvSpPr>
            <p:cNvPr id="43" name="Line 43"/>
            <p:cNvSpPr/>
            <p:nvPr/>
          </p:nvSpPr>
          <p:spPr>
            <a:xfrm flipV="1">
              <a:off x="6096000" y="3390900"/>
              <a:ext cx="1" cy="247650"/>
            </a:xfrm>
            <a:prstGeom prst="line">
              <a:avLst/>
            </a:prstGeom>
            <a:noFill/>
            <a:ln w="28575">
              <a:solidFill>
                <a:srgbClr val="7B61FF"/>
              </a:solidFill>
              <a:tailEnd type="triangle" w="lg" len="lg"/>
            </a:ln>
          </p:spPr>
        </p:sp>
        <p:sp>
          <p:nvSpPr>
            <p:cNvPr id="44" name="Line 44"/>
            <p:cNvSpPr/>
            <p:nvPr/>
          </p:nvSpPr>
          <p:spPr>
            <a:xfrm flipV="1">
              <a:off x="6096000" y="2419350"/>
              <a:ext cx="1" cy="209550"/>
            </a:xfrm>
            <a:prstGeom prst="line">
              <a:avLst/>
            </a:prstGeom>
            <a:noFill/>
            <a:ln w="28575">
              <a:solidFill>
                <a:srgbClr val="7B61FF"/>
              </a:solidFill>
              <a:tailEnd type="triangle" w="lg" len="lg"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8248650" y="2781300"/>
            <a:ext cx="2381250" cy="2419350"/>
            <a:chOff x="8248650" y="2781300"/>
            <a:chExt cx="2381250" cy="2419350"/>
          </a:xfrm>
        </p:grpSpPr>
        <p:sp>
          <p:nvSpPr>
            <p:cNvPr id="46" name="Rectangle 46"/>
            <p:cNvSpPr/>
            <p:nvPr/>
          </p:nvSpPr>
          <p:spPr>
            <a:xfrm>
              <a:off x="8248650" y="2781300"/>
              <a:ext cx="2381250" cy="400050"/>
            </a:xfrm>
            <a:prstGeom prst="roundRect">
              <a:avLst>
                <a:gd name="adj" fmla="val 9524"/>
              </a:avLst>
            </a:prstGeom>
            <a:solidFill>
              <a:srgbClr val="101820"/>
            </a:solidFill>
            <a:ln w="9525">
              <a:solidFill>
                <a:srgbClr val="33516D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43912" y="2917031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从问题发现到动作建议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248650" y="3790950"/>
              <a:ext cx="2381250" cy="400050"/>
            </a:xfrm>
            <a:prstGeom prst="roundRect">
              <a:avLst>
                <a:gd name="adj" fmla="val 9524"/>
              </a:avLst>
            </a:prstGeom>
            <a:solidFill>
              <a:srgbClr val="101820"/>
            </a:solidFill>
            <a:ln w="9525">
              <a:solidFill>
                <a:srgbClr val="33516D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43912" y="392668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客户语境沉淀为资产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248650" y="4800600"/>
              <a:ext cx="2381250" cy="400050"/>
            </a:xfrm>
            <a:prstGeom prst="roundRect">
              <a:avLst>
                <a:gd name="adj" fmla="val 9524"/>
              </a:avLst>
            </a:prstGeom>
            <a:solidFill>
              <a:srgbClr val="101820"/>
            </a:solidFill>
            <a:ln w="9525">
              <a:solidFill>
                <a:srgbClr val="33516D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43912" y="4936331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企业系统接入即价值入口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599122" y="6292691"/>
            <a:ext cx="28593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A9B7C7"/>
                </a:solidFill>
                <a:latin typeface="Arial"/>
                <a:ea typeface="Microsoft YaHei"/>
                <a:cs typeface="Arial"/>
              </a:rPr>
              <a:t>P04 · 产品价值不是单点功能，而是一条可治理的业务闭环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1820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33516D">
                  <a:alpha val="55000"/>
                </a:srgbClr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7215" y="561499"/>
            <a:ext cx="6848618" cy="738663"/>
            <a:chOff x="577215" y="561499"/>
            <a:chExt cx="6848618" cy="738663"/>
          </a:xfrm>
        </p:grpSpPr>
        <p:sp>
          <p:nvSpPr>
            <p:cNvPr id="5" name="TextBox 5"/>
            <p:cNvSpPr txBox="1"/>
            <p:nvPr/>
          </p:nvSpPr>
          <p:spPr>
            <a:xfrm>
              <a:off x="597218" y="561499"/>
              <a:ext cx="882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FBF71"/>
                  </a:solidFill>
                  <a:latin typeface="Consolas"/>
                  <a:ea typeface="Microsoft YaHei"/>
                  <a:cs typeface="Consolas"/>
                </a:rPr>
                <a:t>04 · TRACTION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7215" y="782002"/>
              <a:ext cx="684861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牵引力来自更快上线、更高留存和更多扩展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66750" y="1562100"/>
            <a:ext cx="7239000" cy="4095750"/>
            <a:chOff x="666750" y="1562100"/>
            <a:chExt cx="7239000" cy="4095750"/>
          </a:xfrm>
        </p:grpSpPr>
        <p:sp>
          <p:nvSpPr>
            <p:cNvPr id="8" name="Rectangle 8"/>
            <p:cNvSpPr/>
            <p:nvPr/>
          </p:nvSpPr>
          <p:spPr>
            <a:xfrm>
              <a:off x="666750" y="1562100"/>
              <a:ext cx="7239000" cy="4095750"/>
            </a:xfrm>
            <a:prstGeom prst="roundRect">
              <a:avLst>
                <a:gd name="adj" fmla="val 1395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295400" y="49530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19050">
              <a:solidFill>
                <a:srgbClr val="33516D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295400" y="2095500"/>
              <a:ext cx="9525" cy="2857500"/>
            </a:xfrm>
            <a:custGeom>
              <a:avLst/>
              <a:gdLst/>
              <a:ahLst/>
              <a:cxnLst/>
              <a:rect l="l" t="t" r="r" b="b"/>
              <a:pathLst>
                <a:path w="9525" h="2857500">
                  <a:moveTo>
                    <a:pt x="0" y="0"/>
                  </a:moveTo>
                  <a:lnTo>
                    <a:pt x="0" y="2857500"/>
                  </a:lnTo>
                </a:path>
              </a:pathLst>
            </a:custGeom>
            <a:noFill/>
            <a:ln w="19050">
              <a:solidFill>
                <a:srgbClr val="33516D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295400" y="4238625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22364D"/>
              </a:solidFill>
              <a:custDash>
                <a:ds d="500000" sp="7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1295400" y="352425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22364D"/>
              </a:solidFill>
              <a:custDash>
                <a:ds d="500000" sp="70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1295400" y="2809875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22364D"/>
              </a:solidFill>
              <a:custDash>
                <a:ds d="500000" sp="700000"/>
              </a:custDash>
            </a:ln>
          </p:spPr>
        </p:sp>
        <p:sp>
          <p:nvSpPr>
            <p:cNvPr id="14" name="Line 14"/>
            <p:cNvSpPr/>
            <p:nvPr/>
          </p:nvSpPr>
          <p:spPr>
            <a:xfrm>
              <a:off x="1295400" y="20955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22364D"/>
              </a:solidFill>
              <a:custDash>
                <a:ds d="500000" sp="700000"/>
              </a:custDash>
            </a:ln>
          </p:spPr>
        </p:sp>
        <p:sp>
          <p:nvSpPr>
            <p:cNvPr id="15" name="Polyline 15"/>
            <p:cNvSpPr/>
            <p:nvPr/>
          </p:nvSpPr>
          <p:spPr>
            <a:xfrm>
              <a:off x="1295400" y="2152650"/>
              <a:ext cx="6057900" cy="2495550"/>
            </a:xfrm>
            <a:custGeom>
              <a:avLst/>
              <a:gdLst/>
              <a:ahLst/>
              <a:cxnLst/>
              <a:rect l="l" t="t" r="r" b="b"/>
              <a:pathLst>
                <a:path w="6057900" h="2495550">
                  <a:moveTo>
                    <a:pt x="0" y="2495550"/>
                  </a:moveTo>
                  <a:lnTo>
                    <a:pt x="1009650" y="2171700"/>
                  </a:lnTo>
                  <a:lnTo>
                    <a:pt x="2019300" y="1828800"/>
                  </a:lnTo>
                  <a:lnTo>
                    <a:pt x="3028950" y="1295400"/>
                  </a:lnTo>
                  <a:lnTo>
                    <a:pt x="4038600" y="762000"/>
                  </a:lnTo>
                  <a:lnTo>
                    <a:pt x="5048250" y="419100"/>
                  </a:lnTo>
                  <a:lnTo>
                    <a:pt x="6057900" y="0"/>
                  </a:lnTo>
                </a:path>
              </a:pathLst>
            </a:custGeom>
            <a:noFill/>
            <a:ln w="38100" cap="rnd">
              <a:solidFill>
                <a:srgbClr val="2FBF71"/>
              </a:solidFill>
              <a:round/>
            </a:ln>
          </p:spPr>
        </p:sp>
        <p:sp>
          <p:nvSpPr>
            <p:cNvPr id="16" name="Polyline 16"/>
            <p:cNvSpPr/>
            <p:nvPr/>
          </p:nvSpPr>
          <p:spPr>
            <a:xfrm>
              <a:off x="1295400" y="2895600"/>
              <a:ext cx="6057900" cy="1905000"/>
            </a:xfrm>
            <a:custGeom>
              <a:avLst/>
              <a:gdLst/>
              <a:ahLst/>
              <a:cxnLst/>
              <a:rect l="l" t="t" r="r" b="b"/>
              <a:pathLst>
                <a:path w="6057900" h="1905000">
                  <a:moveTo>
                    <a:pt x="0" y="1905000"/>
                  </a:moveTo>
                  <a:lnTo>
                    <a:pt x="1009650" y="1733550"/>
                  </a:lnTo>
                  <a:lnTo>
                    <a:pt x="2019300" y="1466850"/>
                  </a:lnTo>
                  <a:lnTo>
                    <a:pt x="3028950" y="1143000"/>
                  </a:lnTo>
                  <a:lnTo>
                    <a:pt x="4038600" y="800100"/>
                  </a:lnTo>
                  <a:lnTo>
                    <a:pt x="5048250" y="419100"/>
                  </a:lnTo>
                  <a:lnTo>
                    <a:pt x="6057900" y="0"/>
                  </a:lnTo>
                </a:path>
              </a:pathLst>
            </a:custGeom>
            <a:noFill/>
            <a:ln w="38100" cap="rnd">
              <a:solidFill>
                <a:srgbClr val="7B61FF"/>
              </a:solidFill>
              <a:round/>
            </a:ln>
          </p:spPr>
        </p:sp>
        <p:sp>
          <p:nvSpPr>
            <p:cNvPr id="17" name="Ellipse 17"/>
            <p:cNvSpPr/>
            <p:nvPr/>
          </p:nvSpPr>
          <p:spPr>
            <a:xfrm>
              <a:off x="1238250" y="4591050"/>
              <a:ext cx="114300" cy="11430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247900" y="4267200"/>
              <a:ext cx="114300" cy="11430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257550" y="3924300"/>
              <a:ext cx="114300" cy="11430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267200" y="3390900"/>
              <a:ext cx="114300" cy="11430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276850" y="2857500"/>
              <a:ext cx="114300" cy="11430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286500" y="2514600"/>
              <a:ext cx="114300" cy="11430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296150" y="2095500"/>
              <a:ext cx="114300" cy="11430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238250" y="4743450"/>
              <a:ext cx="114300" cy="114300"/>
            </a:xfrm>
            <a:prstGeom prst="ellipse">
              <a:avLst/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247900" y="4572000"/>
              <a:ext cx="114300" cy="114300"/>
            </a:xfrm>
            <a:prstGeom prst="ellipse">
              <a:avLst/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257550" y="4305300"/>
              <a:ext cx="114300" cy="114300"/>
            </a:xfrm>
            <a:prstGeom prst="ellipse">
              <a:avLst/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267200" y="3981450"/>
              <a:ext cx="114300" cy="114300"/>
            </a:xfrm>
            <a:prstGeom prst="ellipse">
              <a:avLst/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276850" y="3638550"/>
              <a:ext cx="114300" cy="114300"/>
            </a:xfrm>
            <a:prstGeom prst="ellipse">
              <a:avLst/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286500" y="3257550"/>
              <a:ext cx="114300" cy="114300"/>
            </a:xfrm>
            <a:prstGeom prst="ellipse">
              <a:avLst/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296150" y="2838450"/>
              <a:ext cx="114300" cy="114300"/>
            </a:xfrm>
            <a:prstGeom prst="ellipse">
              <a:avLst/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05960" y="5160645"/>
              <a:ext cx="178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Q1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15610" y="5160645"/>
              <a:ext cx="178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Q2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25260" y="5160645"/>
              <a:ext cx="178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34910" y="5160645"/>
              <a:ext cx="178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Q4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44560" y="5160645"/>
              <a:ext cx="178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Q5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54210" y="5160645"/>
              <a:ext cx="178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Q6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63860" y="5160645"/>
              <a:ext cx="1788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Q7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466850" y="1790700"/>
              <a:ext cx="114300" cy="114300"/>
            </a:xfrm>
            <a:prstGeom prst="roundRect">
              <a:avLst>
                <a:gd name="adj" fmla="val 16667"/>
              </a:avLst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4015" y="1782128"/>
              <a:ext cx="5797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ARR 指数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495550" y="1790700"/>
              <a:ext cx="114300" cy="114300"/>
            </a:xfrm>
            <a:prstGeom prst="roundRect">
              <a:avLst>
                <a:gd name="adj" fmla="val 16667"/>
              </a:avLst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672715" y="17821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付费客户指数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305800" y="1562100"/>
            <a:ext cx="3276600" cy="4095750"/>
            <a:chOff x="8305800" y="1562100"/>
            <a:chExt cx="3276600" cy="4095750"/>
          </a:xfrm>
        </p:grpSpPr>
        <p:sp>
          <p:nvSpPr>
            <p:cNvPr id="43" name="Rectangle 43"/>
            <p:cNvSpPr/>
            <p:nvPr/>
          </p:nvSpPr>
          <p:spPr>
            <a:xfrm>
              <a:off x="8305800" y="1562100"/>
              <a:ext cx="3276600" cy="4095750"/>
            </a:xfrm>
            <a:prstGeom prst="roundRect">
              <a:avLst>
                <a:gd name="adj" fmla="val 1744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99170" y="1903095"/>
              <a:ext cx="1078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OPERATING SIGNALS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66785" y="2218372"/>
              <a:ext cx="1246975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2FBF71"/>
                  </a:solidFill>
                  <a:latin typeface="Georgia"/>
                  <a:ea typeface="SimSun"/>
                  <a:cs typeface="Georgia"/>
                </a:rPr>
                <a:t>118%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94558" y="2453164"/>
              <a:ext cx="70396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目标 NRR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610600" y="2933700"/>
              <a:ext cx="2419350" cy="9525"/>
            </a:xfrm>
            <a:prstGeom prst="rect">
              <a:avLst/>
            </a:prstGeom>
            <a:solidFill>
              <a:srgbClr val="33516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66785" y="3075622"/>
              <a:ext cx="1246975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21 天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94558" y="331041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部署周期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610600" y="3790950"/>
              <a:ext cx="2419350" cy="9525"/>
            </a:xfrm>
            <a:prstGeom prst="rect">
              <a:avLst/>
            </a:prstGeom>
            <a:solidFill>
              <a:srgbClr val="33516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66785" y="3932872"/>
              <a:ext cx="115036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7B61FF"/>
                  </a:solidFill>
                  <a:latin typeface="Georgia"/>
                  <a:ea typeface="SimSun"/>
                  <a:cs typeface="Georgia"/>
                </a:rPr>
                <a:t>4.2x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94558" y="41676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多团队扩展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95360" y="4880610"/>
              <a:ext cx="1554480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这不是下载量故事，</a:t>
              </a:r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而是企业采用曲线开始</a:t>
              </a:r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出现复利信号。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599122" y="6292691"/>
            <a:ext cx="25292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A9B7C7"/>
                </a:solidFill>
                <a:latin typeface="Arial"/>
                <a:ea typeface="Microsoft YaHei"/>
                <a:cs typeface="Arial"/>
              </a:rPr>
              <a:t>P05 · 指标为路演模型占位，可替换为实际经营数据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1820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486150" y="704850"/>
              <a:ext cx="5524500" cy="5524500"/>
            </a:xfrm>
            <a:prstGeom prst="ellipse">
              <a:avLst/>
            </a:prstGeom>
            <a:gradFill>
              <a:gsLst>
                <a:gs pos="0">
                  <a:srgbClr val="7B61FF">
                    <a:alpha val="38000"/>
                  </a:srgbClr>
                </a:gs>
                <a:gs pos="100000">
                  <a:srgbClr val="7B61F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7215" y="561499"/>
            <a:ext cx="5420439" cy="748189"/>
            <a:chOff x="577215" y="561499"/>
            <a:chExt cx="5420439" cy="748189"/>
          </a:xfrm>
        </p:grpSpPr>
        <p:sp>
          <p:nvSpPr>
            <p:cNvPr id="5" name="TextBox 5"/>
            <p:cNvSpPr txBox="1"/>
            <p:nvPr/>
          </p:nvSpPr>
          <p:spPr>
            <a:xfrm>
              <a:off x="597218" y="561499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FBF71"/>
                  </a:solidFill>
                  <a:latin typeface="Consolas"/>
                  <a:ea typeface="Microsoft YaHei"/>
                  <a:cs typeface="Consolas"/>
                </a:rPr>
                <a:t>05 · MOAT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7215" y="791528"/>
              <a:ext cx="542043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护城河来自语义数据层和反馈飞轮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62300" y="1657350"/>
            <a:ext cx="5695950" cy="4552950"/>
            <a:chOff x="3162300" y="1657350"/>
            <a:chExt cx="5695950" cy="4552950"/>
          </a:xfrm>
        </p:grpSpPr>
        <p:sp>
          <p:nvSpPr>
            <p:cNvPr id="8" name="Ellipse 8"/>
            <p:cNvSpPr/>
            <p:nvPr/>
          </p:nvSpPr>
          <p:spPr>
            <a:xfrm>
              <a:off x="4876800" y="2324100"/>
              <a:ext cx="2438400" cy="2438400"/>
            </a:xfrm>
            <a:prstGeom prst="ellipse">
              <a:avLst/>
            </a:prstGeom>
            <a:solidFill>
              <a:srgbClr val="142235"/>
            </a:solidFill>
            <a:ln w="19050">
              <a:solidFill>
                <a:srgbClr val="7B61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217795" y="3009900"/>
              <a:ext cx="17564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复利飞轮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44691" y="359616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客户语境越多，洞察越准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096000" y="1657350"/>
              <a:ext cx="2762250" cy="2286000"/>
            </a:xfrm>
            <a:custGeom>
              <a:avLst/>
              <a:gdLst/>
              <a:ahLst/>
              <a:cxnLst/>
              <a:rect l="l" t="t" r="r" b="b"/>
              <a:pathLst>
                <a:path w="2762250" h="2286000">
                  <a:moveTo>
                    <a:pt x="0" y="0"/>
                  </a:moveTo>
                  <a:cubicBezTo>
                    <a:pt x="1485900" y="0"/>
                    <a:pt x="2628900" y="933450"/>
                    <a:pt x="2762250" y="2286000"/>
                  </a:cubicBezTo>
                </a:path>
              </a:pathLst>
            </a:custGeom>
            <a:noFill/>
            <a:ln w="38100">
              <a:solidFill>
                <a:srgbClr val="2FBF71"/>
              </a:solidFill>
              <a:tailEnd type="triangle" w="lg" len="lg"/>
            </a:ln>
          </p:spPr>
        </p:sp>
        <p:sp>
          <p:nvSpPr>
            <p:cNvPr id="12" name="Freeform 12"/>
            <p:cNvSpPr/>
            <p:nvPr/>
          </p:nvSpPr>
          <p:spPr>
            <a:xfrm>
              <a:off x="4400550" y="4838700"/>
              <a:ext cx="4048125" cy="1371600"/>
            </a:xfrm>
            <a:custGeom>
              <a:avLst/>
              <a:gdLst/>
              <a:ahLst/>
              <a:cxnLst/>
              <a:rect l="l" t="t" r="r" b="b"/>
              <a:pathLst>
                <a:path w="4048125" h="1371600">
                  <a:moveTo>
                    <a:pt x="4048125" y="0"/>
                  </a:moveTo>
                  <a:cubicBezTo>
                    <a:pt x="3028950" y="1219200"/>
                    <a:pt x="1143000" y="1371600"/>
                    <a:pt x="0" y="323850"/>
                  </a:cubicBezTo>
                </a:path>
              </a:pathLst>
            </a:custGeom>
            <a:noFill/>
            <a:ln w="38100">
              <a:solidFill>
                <a:srgbClr val="2FBF71"/>
              </a:solidFill>
              <a:tailEnd type="triangle" w="lg" len="lg"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62300" y="1657350"/>
              <a:ext cx="2381250" cy="2638425"/>
            </a:xfrm>
            <a:custGeom>
              <a:avLst/>
              <a:gdLst/>
              <a:ahLst/>
              <a:cxnLst/>
              <a:rect l="l" t="t" r="r" b="b"/>
              <a:pathLst>
                <a:path w="2381250" h="2638425">
                  <a:moveTo>
                    <a:pt x="552450" y="2638425"/>
                  </a:moveTo>
                  <a:cubicBezTo>
                    <a:pt x="0" y="1162050"/>
                    <a:pt x="990600" y="57150"/>
                    <a:pt x="2381250" y="0"/>
                  </a:cubicBezTo>
                </a:path>
              </a:pathLst>
            </a:custGeom>
            <a:noFill/>
            <a:ln w="38100">
              <a:solidFill>
                <a:srgbClr val="2FBF71"/>
              </a:solidFill>
              <a:tailEnd type="triangle" w="lg" len="lg"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286125" y="1400175"/>
            <a:ext cx="6229350" cy="4000500"/>
            <a:chOff x="3286125" y="1400175"/>
            <a:chExt cx="6229350" cy="4000500"/>
          </a:xfrm>
        </p:grpSpPr>
        <p:sp>
          <p:nvSpPr>
            <p:cNvPr id="15" name="TextBox 15"/>
            <p:cNvSpPr txBox="1"/>
            <p:nvPr/>
          </p:nvSpPr>
          <p:spPr>
            <a:xfrm>
              <a:off x="4886325" y="14001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语义资产沉淀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77225" y="40671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行动结果反馈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86125" y="50958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行业模板复用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5810" y="2194560"/>
            <a:ext cx="4223195" cy="2170271"/>
            <a:chOff x="765810" y="2194560"/>
            <a:chExt cx="4223195" cy="2170271"/>
          </a:xfrm>
        </p:grpSpPr>
        <p:sp>
          <p:nvSpPr>
            <p:cNvPr id="19" name="TextBox 19"/>
            <p:cNvSpPr txBox="1"/>
            <p:nvPr/>
          </p:nvSpPr>
          <p:spPr>
            <a:xfrm>
              <a:off x="765810" y="2194560"/>
              <a:ext cx="4223195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2FBF71"/>
                  </a:solidFill>
                  <a:latin typeface="Georgia"/>
                  <a:ea typeface="SimSun"/>
                  <a:cs typeface="Georgia"/>
                </a:rPr>
                <a:t>不是模型本身，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5810" y="2823210"/>
              <a:ext cx="4223195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而是客户语境。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9152" y="3789521"/>
              <a:ext cx="329374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42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每一次指标定义、洞察确认和业务动作，</a:t>
              </a:r>
              <a:r>
                <a:rPr lang="zh-CN" sz="142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都会让平台更理解企业如何经营。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353550" y="1981200"/>
            <a:ext cx="1809750" cy="2971800"/>
            <a:chOff x="9353550" y="1981200"/>
            <a:chExt cx="1809750" cy="2971800"/>
          </a:xfrm>
        </p:grpSpPr>
        <p:sp>
          <p:nvSpPr>
            <p:cNvPr id="23" name="Rectangle 23"/>
            <p:cNvSpPr/>
            <p:nvPr/>
          </p:nvSpPr>
          <p:spPr>
            <a:xfrm>
              <a:off x="9353550" y="1981200"/>
              <a:ext cx="1809750" cy="514350"/>
            </a:xfrm>
            <a:prstGeom prst="roundRect">
              <a:avLst>
                <a:gd name="adj" fmla="val 11111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546908" y="216741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指标定义库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353550" y="2800350"/>
              <a:ext cx="1809750" cy="514350"/>
            </a:xfrm>
            <a:prstGeom prst="roundRect">
              <a:avLst>
                <a:gd name="adj" fmla="val 11111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546908" y="29865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洞察评价样本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353550" y="3619500"/>
              <a:ext cx="1809750" cy="514350"/>
            </a:xfrm>
            <a:prstGeom prst="roundRect">
              <a:avLst>
                <a:gd name="adj" fmla="val 11111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46908" y="380571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动作模板库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353550" y="4438650"/>
              <a:ext cx="1809750" cy="514350"/>
            </a:xfrm>
            <a:prstGeom prst="roundRect">
              <a:avLst>
                <a:gd name="adj" fmla="val 11111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46908" y="46248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权限和治理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99122" y="6292691"/>
            <a:ext cx="29693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A9B7C7"/>
                </a:solidFill>
                <a:latin typeface="Arial"/>
                <a:ea typeface="Microsoft YaHei"/>
                <a:cs typeface="Arial"/>
              </a:rPr>
              <a:t>P06 · 低密度叙事页：解释为什么竞争壁垒会随客户使用加深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1820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33516D">
                  <a:alpha val="55000"/>
                </a:srgbClr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7215" y="561499"/>
            <a:ext cx="7259219" cy="738663"/>
            <a:chOff x="577215" y="561499"/>
            <a:chExt cx="7259219" cy="738663"/>
          </a:xfrm>
        </p:grpSpPr>
        <p:sp>
          <p:nvSpPr>
            <p:cNvPr id="5" name="TextBox 5"/>
            <p:cNvSpPr txBox="1"/>
            <p:nvPr/>
          </p:nvSpPr>
          <p:spPr>
            <a:xfrm>
              <a:off x="597218" y="561499"/>
              <a:ext cx="11884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FBF71"/>
                  </a:solidFill>
                  <a:latin typeface="Consolas"/>
                  <a:ea typeface="Microsoft YaHei"/>
                  <a:cs typeface="Consolas"/>
                </a:rPr>
                <a:t>06 · GO TO MARKET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7215" y="782002"/>
              <a:ext cx="72592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GTM 从高痛点团队切入，再向企业标准化扩展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1581150"/>
            <a:ext cx="6572250" cy="4095750"/>
            <a:chOff x="685800" y="1581150"/>
            <a:chExt cx="6572250" cy="4095750"/>
          </a:xfrm>
        </p:grpSpPr>
        <p:sp>
          <p:nvSpPr>
            <p:cNvPr id="8" name="Rectangle 8"/>
            <p:cNvSpPr/>
            <p:nvPr/>
          </p:nvSpPr>
          <p:spPr>
            <a:xfrm>
              <a:off x="685800" y="1581150"/>
              <a:ext cx="6572250" cy="4095750"/>
            </a:xfrm>
            <a:prstGeom prst="roundRect">
              <a:avLst>
                <a:gd name="adj" fmla="val 1395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581150" y="2076450"/>
              <a:ext cx="4781550" cy="590550"/>
            </a:xfrm>
            <a:custGeom>
              <a:avLst/>
              <a:gdLst/>
              <a:ahLst/>
              <a:cxnLst/>
              <a:rect l="l" t="t" r="r" b="b"/>
              <a:pathLst>
                <a:path w="4781550" h="590550">
                  <a:moveTo>
                    <a:pt x="0" y="0"/>
                  </a:moveTo>
                  <a:lnTo>
                    <a:pt x="4781550" y="0"/>
                  </a:lnTo>
                  <a:lnTo>
                    <a:pt x="4381500" y="590550"/>
                  </a:lnTo>
                  <a:lnTo>
                    <a:pt x="400050" y="590550"/>
                  </a:lnTo>
                  <a:close/>
                </a:path>
              </a:pathLst>
            </a:custGeom>
            <a:solidFill>
              <a:srgbClr val="2FBF71">
                <a:alpha val="88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132796" y="2257425"/>
              <a:ext cx="169730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01820"/>
                  </a:solidFill>
                  <a:latin typeface="Arial"/>
                  <a:ea typeface="Microsoft YaHei"/>
                  <a:cs typeface="Arial"/>
                </a:rPr>
                <a:t>目标账户 · 1,200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981200" y="2971800"/>
              <a:ext cx="3981450" cy="590550"/>
            </a:xfrm>
            <a:custGeom>
              <a:avLst/>
              <a:gdLst/>
              <a:ahLst/>
              <a:cxnLst/>
              <a:rect l="l" t="t" r="r" b="b"/>
              <a:pathLst>
                <a:path w="3981450" h="590550">
                  <a:moveTo>
                    <a:pt x="0" y="0"/>
                  </a:moveTo>
                  <a:lnTo>
                    <a:pt x="3981450" y="0"/>
                  </a:lnTo>
                  <a:lnTo>
                    <a:pt x="3543300" y="590550"/>
                  </a:lnTo>
                  <a:lnTo>
                    <a:pt x="438150" y="590550"/>
                  </a:lnTo>
                  <a:close/>
                </a:path>
              </a:pathLst>
            </a:custGeom>
            <a:solidFill>
              <a:srgbClr val="2FBF71">
                <a:alpha val="64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38284" y="3152775"/>
              <a:ext cx="18863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业务团队试点 · 280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419350" y="3867150"/>
              <a:ext cx="3105150" cy="590550"/>
            </a:xfrm>
            <a:custGeom>
              <a:avLst/>
              <a:gdLst/>
              <a:ahLst/>
              <a:cxnLst/>
              <a:rect l="l" t="t" r="r" b="b"/>
              <a:pathLst>
                <a:path w="3105150" h="590550">
                  <a:moveTo>
                    <a:pt x="0" y="0"/>
                  </a:moveTo>
                  <a:lnTo>
                    <a:pt x="3105150" y="0"/>
                  </a:lnTo>
                  <a:lnTo>
                    <a:pt x="2647950" y="590550"/>
                  </a:lnTo>
                  <a:lnTo>
                    <a:pt x="457200" y="590550"/>
                  </a:lnTo>
                  <a:close/>
                </a:path>
              </a:pathLst>
            </a:custGeom>
            <a:solidFill>
              <a:srgbClr val="7B61FF">
                <a:alpha val="76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06068" y="4048125"/>
              <a:ext cx="13507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付费部署 · 72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876550" y="4762500"/>
              <a:ext cx="2190750" cy="590550"/>
            </a:xfrm>
            <a:custGeom>
              <a:avLst/>
              <a:gdLst/>
              <a:ahLst/>
              <a:cxnLst/>
              <a:rect l="l" t="t" r="r" b="b"/>
              <a:pathLst>
                <a:path w="2190750" h="590550">
                  <a:moveTo>
                    <a:pt x="0" y="0"/>
                  </a:moveTo>
                  <a:lnTo>
                    <a:pt x="2190750" y="0"/>
                  </a:lnTo>
                  <a:lnTo>
                    <a:pt x="1828800" y="590550"/>
                  </a:lnTo>
                  <a:lnTo>
                    <a:pt x="361950" y="590550"/>
                  </a:lnTo>
                  <a:close/>
                </a:path>
              </a:pathLst>
            </a:custGeom>
            <a:solidFill>
              <a:srgbClr val="7B61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06068" y="4943475"/>
              <a:ext cx="13507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企业扩展 · 24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1038299" y="1833562"/>
              <a:ext cx="247516" cy="257178"/>
              <a:chOff x="1038299" y="1833562"/>
              <a:chExt cx="247516" cy="25717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038299" y="1833562"/>
                <a:ext cx="247516" cy="257178"/>
              </a:xfrm>
              <a:custGeom>
                <a:avLst/>
                <a:gdLst/>
                <a:ahLst/>
                <a:cxnLst/>
                <a:rect l="l" t="t" r="r" b="b"/>
                <a:pathLst>
                  <a:path w="247516" h="257178">
                    <a:moveTo>
                      <a:pt x="14980" y="0"/>
                    </a:moveTo>
                    <a:lnTo>
                      <a:pt x="232521" y="0"/>
                    </a:lnTo>
                    <a:cubicBezTo>
                      <a:pt x="237112" y="3"/>
                      <a:pt x="241420" y="2212"/>
                      <a:pt x="244103" y="5936"/>
                    </a:cubicBezTo>
                    <a:cubicBezTo>
                      <a:pt x="246786" y="9661"/>
                      <a:pt x="247516" y="14447"/>
                      <a:pt x="246066" y="18802"/>
                    </a:cubicBezTo>
                    <a:lnTo>
                      <a:pt x="173128" y="237630"/>
                    </a:lnTo>
                    <a:cubicBezTo>
                      <a:pt x="169240" y="249304"/>
                      <a:pt x="158315" y="257178"/>
                      <a:pt x="146011" y="257175"/>
                    </a:cubicBezTo>
                    <a:lnTo>
                      <a:pt x="101491" y="257175"/>
                    </a:lnTo>
                    <a:cubicBezTo>
                      <a:pt x="89186" y="257178"/>
                      <a:pt x="78261" y="249304"/>
                      <a:pt x="74373" y="237630"/>
                    </a:cubicBezTo>
                    <a:lnTo>
                      <a:pt x="1450" y="18802"/>
                    </a:lnTo>
                    <a:cubicBezTo>
                      <a:pt x="0" y="14450"/>
                      <a:pt x="729" y="9666"/>
                      <a:pt x="3408" y="5942"/>
                    </a:cubicBezTo>
                    <a:cubicBezTo>
                      <a:pt x="6088" y="2219"/>
                      <a:pt x="10392" y="8"/>
                      <a:pt x="14980" y="0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062038" y="1919288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90612" y="2005012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436370" y="1903095"/>
              <a:ext cx="13850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LAND AND EXPAND FUNNEL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77150" y="1581150"/>
            <a:ext cx="3905250" cy="4095750"/>
            <a:chOff x="7677150" y="1581150"/>
            <a:chExt cx="3905250" cy="4095750"/>
          </a:xfrm>
        </p:grpSpPr>
        <p:sp>
          <p:nvSpPr>
            <p:cNvPr id="23" name="Rectangle 23"/>
            <p:cNvSpPr/>
            <p:nvPr/>
          </p:nvSpPr>
          <p:spPr>
            <a:xfrm>
              <a:off x="7677150" y="1581150"/>
              <a:ext cx="3905250" cy="4095750"/>
            </a:xfrm>
            <a:prstGeom prst="roundRect">
              <a:avLst>
                <a:gd name="adj" fmla="val 1463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70520" y="1941195"/>
              <a:ext cx="10849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EXPANSION MOTION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41945" y="2212658"/>
              <a:ext cx="316739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FBF71"/>
                  </a:solidFill>
                  <a:latin typeface="Georgia"/>
                  <a:ea typeface="SimSun"/>
                  <a:cs typeface="Georgia"/>
                </a:rPr>
                <a:t>先赢一个团队，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41945" y="2707958"/>
              <a:ext cx="36084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再成为指标标准。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981950" y="3467100"/>
              <a:ext cx="3028950" cy="9525"/>
            </a:xfrm>
            <a:prstGeom prst="rect">
              <a:avLst/>
            </a:prstGeom>
            <a:solidFill>
              <a:srgbClr val="33516D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015288" y="3824288"/>
              <a:ext cx="200026" cy="200026"/>
              <a:chOff x="8015288" y="3824288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104188" y="39131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9738" y="386873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3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15288" y="38242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8403908" y="3862864"/>
              <a:ext cx="2837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RevOps、增长、财务分析作为切入口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015288" y="4376738"/>
              <a:ext cx="200026" cy="200026"/>
              <a:chOff x="8015288" y="437673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015288" y="43767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081963" y="445452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403908" y="441531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用业务结果证明价值，而非功能清单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8022890" y="4940300"/>
              <a:ext cx="181311" cy="181310"/>
              <a:chOff x="8022890" y="4940300"/>
              <a:chExt cx="181311" cy="18131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026400" y="4940300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0" y="100013"/>
                    </a:moveTo>
                    <a:cubicBezTo>
                      <a:pt x="40785" y="104860"/>
                      <a:pt x="72941" y="137015"/>
                      <a:pt x="77788" y="177801"/>
                    </a:cubicBezTo>
                    <a:cubicBezTo>
                      <a:pt x="97758" y="166288"/>
                      <a:pt x="110364" y="145276"/>
                      <a:pt x="111125" y="122238"/>
                    </a:cubicBezTo>
                    <a:cubicBezTo>
                      <a:pt x="149283" y="108814"/>
                      <a:pt x="175598" y="73728"/>
                      <a:pt x="177801" y="33338"/>
                    </a:cubicBezTo>
                    <a:cubicBezTo>
                      <a:pt x="177801" y="14926"/>
                      <a:pt x="162875" y="0"/>
                      <a:pt x="144463" y="0"/>
                    </a:cubicBezTo>
                    <a:cubicBezTo>
                      <a:pt x="104073" y="2202"/>
                      <a:pt x="68986" y="28517"/>
                      <a:pt x="55563" y="66675"/>
                    </a:cubicBezTo>
                    <a:cubicBezTo>
                      <a:pt x="32524" y="67436"/>
                      <a:pt x="11513" y="80043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022890" y="5051425"/>
                <a:ext cx="70185" cy="70185"/>
              </a:xfrm>
              <a:custGeom>
                <a:avLst/>
                <a:gdLst/>
                <a:ahLst/>
                <a:cxnLst/>
                <a:rect l="l" t="t" r="r" b="b"/>
                <a:pathLst>
                  <a:path w="70185" h="70185">
                    <a:moveTo>
                      <a:pt x="36848" y="0"/>
                    </a:moveTo>
                    <a:cubicBezTo>
                      <a:pt x="13188" y="13357"/>
                      <a:pt x="0" y="39734"/>
                      <a:pt x="3510" y="66675"/>
                    </a:cubicBezTo>
                    <a:cubicBezTo>
                      <a:pt x="30452" y="70185"/>
                      <a:pt x="56828" y="56997"/>
                      <a:pt x="70185" y="33338"/>
                    </a:cubicBez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37525" y="498475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403908" y="49677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治理、权限、模板驱动企业级扩展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99122" y="6292691"/>
            <a:ext cx="29583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A9B7C7"/>
                </a:solidFill>
                <a:latin typeface="Arial"/>
                <a:ea typeface="Microsoft YaHei"/>
                <a:cs typeface="Arial"/>
              </a:rPr>
              <a:t>P07 · 漏斗数据为 GTM 模型占位，可替换为 CRM 实际转化率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1820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33516D">
                  <a:alpha val="55000"/>
                </a:srgbClr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7215" y="561499"/>
            <a:ext cx="6777209" cy="738663"/>
            <a:chOff x="577215" y="561499"/>
            <a:chExt cx="6777209" cy="738663"/>
          </a:xfrm>
        </p:grpSpPr>
        <p:sp>
          <p:nvSpPr>
            <p:cNvPr id="5" name="TextBox 5"/>
            <p:cNvSpPr txBox="1"/>
            <p:nvPr/>
          </p:nvSpPr>
          <p:spPr>
            <a:xfrm>
              <a:off x="597218" y="561499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FBF71"/>
                  </a:solidFill>
                  <a:latin typeface="Consolas"/>
                  <a:ea typeface="Microsoft YaHei"/>
                  <a:cs typeface="Consolas"/>
                </a:rPr>
                <a:t>07 · BUSINESS MODEL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7215" y="782002"/>
              <a:ext cx="677720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商业模型兼具 SaaS 毛利和数据平台扩展性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1657350"/>
            <a:ext cx="6743700" cy="3467100"/>
            <a:chOff x="685800" y="1657350"/>
            <a:chExt cx="6743700" cy="3467100"/>
          </a:xfrm>
        </p:grpSpPr>
        <p:sp>
          <p:nvSpPr>
            <p:cNvPr id="8" name="Rectangle 8"/>
            <p:cNvSpPr/>
            <p:nvPr/>
          </p:nvSpPr>
          <p:spPr>
            <a:xfrm>
              <a:off x="685800" y="1657350"/>
              <a:ext cx="3238500" cy="1543050"/>
            </a:xfrm>
            <a:prstGeom prst="roundRect">
              <a:avLst>
                <a:gd name="adj" fmla="val 3704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0120" y="197929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TARGET ACV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0115" y="2286952"/>
              <a:ext cx="1350426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2FBF71"/>
                  </a:solidFill>
                  <a:latin typeface="Georgia"/>
                  <a:ea typeface="SimSun"/>
                  <a:cs typeface="Georgia"/>
                </a:rPr>
                <a:t>$48K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6310" y="2880360"/>
              <a:ext cx="1838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平台费 + 席位 + 工作流量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191000" y="1657350"/>
              <a:ext cx="3238500" cy="1543050"/>
            </a:xfrm>
            <a:prstGeom prst="roundRect">
              <a:avLst>
                <a:gd name="adj" fmla="val 3704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65320" y="1979295"/>
              <a:ext cx="802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GROSS MARGIN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25315" y="2286952"/>
              <a:ext cx="1151951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82%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61510" y="28803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软件毛利，服务用于导入期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" y="3581400"/>
              <a:ext cx="3238500" cy="1543050"/>
            </a:xfrm>
            <a:prstGeom prst="roundRect">
              <a:avLst>
                <a:gd name="adj" fmla="val 3704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0120" y="3903345"/>
              <a:ext cx="4849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PAYBACK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0115" y="4211002"/>
              <a:ext cx="146384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7B61FF"/>
                  </a:solidFill>
                  <a:latin typeface="Georgia"/>
                  <a:ea typeface="SimSun"/>
                  <a:cs typeface="Georgia"/>
                </a:rPr>
                <a:t>11 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6310" y="480441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销售回本周期目标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191000" y="3581400"/>
              <a:ext cx="3238500" cy="1543050"/>
            </a:xfrm>
            <a:prstGeom prst="roundRect">
              <a:avLst>
                <a:gd name="adj" fmla="val 3704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65320" y="39033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NRR TARGET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25315" y="4211002"/>
              <a:ext cx="1463840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2FBF71"/>
                  </a:solidFill>
                  <a:latin typeface="Georgia"/>
                  <a:ea typeface="SimSun"/>
                  <a:cs typeface="Georgia"/>
                </a:rPr>
                <a:t>118%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61510" y="48044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多团队扩展与用量增长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886700" y="1657350"/>
            <a:ext cx="3840480" cy="3467100"/>
            <a:chOff x="7886700" y="1657350"/>
            <a:chExt cx="3840480" cy="3467100"/>
          </a:xfrm>
        </p:grpSpPr>
        <p:sp>
          <p:nvSpPr>
            <p:cNvPr id="25" name="Rectangle 25"/>
            <p:cNvSpPr/>
            <p:nvPr/>
          </p:nvSpPr>
          <p:spPr>
            <a:xfrm>
              <a:off x="7886700" y="1657350"/>
              <a:ext cx="3695700" cy="3467100"/>
            </a:xfrm>
            <a:prstGeom prst="roundRect">
              <a:avLst>
                <a:gd name="adj" fmla="val 1648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80070" y="1998345"/>
              <a:ext cx="784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PRICING LOGIC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8234362" y="2528888"/>
              <a:ext cx="257175" cy="200025"/>
              <a:chOff x="8234362" y="2528888"/>
              <a:chExt cx="257175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234362" y="2528888"/>
                <a:ext cx="2000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42875">
                    <a:moveTo>
                      <a:pt x="57150" y="142875"/>
                    </a:moveTo>
                    <a:lnTo>
                      <a:pt x="14288" y="142875"/>
                    </a:lnTo>
                    <a:cubicBezTo>
                      <a:pt x="6397" y="142875"/>
                      <a:pt x="0" y="136478"/>
                      <a:pt x="0" y="128588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5715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91512" y="2586038"/>
                <a:ext cx="2000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42875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128588"/>
                    </a:lnTo>
                    <a:cubicBezTo>
                      <a:pt x="200025" y="136478"/>
                      <a:pt x="193628" y="142875"/>
                      <a:pt x="185738" y="142875"/>
                    </a:cubicBezTo>
                    <a:lnTo>
                      <a:pt x="14288" y="142875"/>
                    </a:lnTo>
                    <a:cubicBezTo>
                      <a:pt x="6397" y="142875"/>
                      <a:pt x="0" y="136478"/>
                      <a:pt x="0" y="128588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62950" y="26289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687752" y="2551271"/>
              <a:ext cx="19364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平台订阅锁定基础预算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8234362" y="3243262"/>
              <a:ext cx="257175" cy="257176"/>
              <a:chOff x="8234362" y="3243262"/>
              <a:chExt cx="257175" cy="25717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262938" y="32432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34362" y="341471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420100" y="324512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448675" y="341685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7B61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687752" y="3294221"/>
              <a:ext cx="21264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席位扩展覆盖多部门采用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8234362" y="3986212"/>
              <a:ext cx="257176" cy="257176"/>
              <a:chOff x="8234362" y="3986212"/>
              <a:chExt cx="257176" cy="25717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234362" y="418623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434388" y="398621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62938" y="4014788"/>
                <a:ext cx="2143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00025">
                    <a:moveTo>
                      <a:pt x="85725" y="200025"/>
                    </a:moveTo>
                    <a:lnTo>
                      <a:pt x="164306" y="200025"/>
                    </a:lnTo>
                    <a:cubicBezTo>
                      <a:pt x="191924" y="200025"/>
                      <a:pt x="214312" y="177636"/>
                      <a:pt x="214312" y="150019"/>
                    </a:cubicBezTo>
                    <a:cubicBezTo>
                      <a:pt x="214312" y="122401"/>
                      <a:pt x="191924" y="100012"/>
                      <a:pt x="164306" y="100012"/>
                    </a:cubicBezTo>
                    <a:lnTo>
                      <a:pt x="50006" y="100012"/>
                    </a:ln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687752" y="4037171"/>
              <a:ext cx="231648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工作流量跟随业务动作增长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191500" y="4629150"/>
              <a:ext cx="2857500" cy="9525"/>
            </a:xfrm>
            <a:prstGeom prst="rect">
              <a:avLst/>
            </a:prstGeom>
            <a:solidFill>
              <a:srgbClr val="33516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76260" y="4861560"/>
              <a:ext cx="3550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模型的核心是让客户使用越深，收入越自然扩展。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599122" y="6292691"/>
            <a:ext cx="30683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A9B7C7"/>
                </a:solidFill>
                <a:latin typeface="Arial"/>
                <a:ea typeface="Microsoft YaHei"/>
                <a:cs typeface="Arial"/>
              </a:rPr>
              <a:t>P08 · 财务指标为目标模型，可替换为实际 cohort 和会计口径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1820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33516D">
                  <a:alpha val="55000"/>
                </a:srgbClr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7215" y="561499"/>
            <a:ext cx="7455594" cy="738663"/>
            <a:chOff x="577215" y="561499"/>
            <a:chExt cx="7455594" cy="738663"/>
          </a:xfrm>
        </p:grpSpPr>
        <p:sp>
          <p:nvSpPr>
            <p:cNvPr id="5" name="TextBox 5"/>
            <p:cNvSpPr txBox="1"/>
            <p:nvPr/>
          </p:nvSpPr>
          <p:spPr>
            <a:xfrm>
              <a:off x="597218" y="561499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FBF71"/>
                  </a:solidFill>
                  <a:latin typeface="Consolas"/>
                  <a:ea typeface="Microsoft YaHei"/>
                  <a:cs typeface="Consolas"/>
                </a:rPr>
                <a:t>08 · NEXT 18 MONTHS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7215" y="782002"/>
              <a:ext cx="74555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未来 18 个月要把产品验证变成可重复增长机器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5800" y="1657350"/>
            <a:ext cx="7696200" cy="3638550"/>
            <a:chOff x="685800" y="1657350"/>
            <a:chExt cx="7696200" cy="3638550"/>
          </a:xfrm>
        </p:grpSpPr>
        <p:sp>
          <p:nvSpPr>
            <p:cNvPr id="8" name="Rectangle 8"/>
            <p:cNvSpPr/>
            <p:nvPr/>
          </p:nvSpPr>
          <p:spPr>
            <a:xfrm>
              <a:off x="685800" y="1657350"/>
              <a:ext cx="7696200" cy="3638550"/>
            </a:xfrm>
            <a:prstGeom prst="roundRect">
              <a:avLst>
                <a:gd name="adj" fmla="val 1571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371600" y="3505200"/>
              <a:ext cx="6324600" cy="9525"/>
            </a:xfrm>
            <a:custGeom>
              <a:avLst/>
              <a:gdLst/>
              <a:ahLst/>
              <a:cxnLst/>
              <a:rect l="l" t="t" r="r" b="b"/>
              <a:pathLst>
                <a:path w="6324600" h="9525">
                  <a:moveTo>
                    <a:pt x="0" y="0"/>
                  </a:moveTo>
                  <a:lnTo>
                    <a:pt x="6324600" y="0"/>
                  </a:lnTo>
                </a:path>
              </a:pathLst>
            </a:custGeom>
            <a:noFill/>
            <a:ln w="28575">
              <a:solidFill>
                <a:srgbClr val="33516D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476375" y="3381375"/>
              <a:ext cx="247650" cy="24765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00375" y="3381375"/>
              <a:ext cx="247650" cy="24765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524375" y="3381375"/>
              <a:ext cx="247650" cy="247650"/>
            </a:xfrm>
            <a:prstGeom prst="ellipse">
              <a:avLst/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048375" y="3381375"/>
              <a:ext cx="247650" cy="247650"/>
            </a:xfrm>
            <a:prstGeom prst="ellipse">
              <a:avLst/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572375" y="3381375"/>
              <a:ext cx="247650" cy="247650"/>
            </a:xfrm>
            <a:prstGeom prst="ellipse">
              <a:avLst/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02068" y="296179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M0-M3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8708" y="37104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语义层增强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26068" y="296179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M4-M6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12708" y="3710464"/>
              <a:ext cx="8824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可靠性评测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50068" y="2961799"/>
              <a:ext cx="5058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M7-M10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17658" y="37104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企业销售复制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74068" y="2961799"/>
              <a:ext cx="577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M11-M14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17858" y="371046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客户成功体系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98068" y="2961799"/>
              <a:ext cx="5773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M15-M18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6158" y="371046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安全合规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0608" y="4586764"/>
              <a:ext cx="3918585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节奏原则：先提升产品可靠性和企业交付能力，</a:t>
              </a:r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再扩大销售覆盖，避免用资本掩盖未稳定的交付模型。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763000" y="1657350"/>
            <a:ext cx="2819400" cy="3638550"/>
            <a:chOff x="8763000" y="1657350"/>
            <a:chExt cx="2819400" cy="3638550"/>
          </a:xfrm>
        </p:grpSpPr>
        <p:sp>
          <p:nvSpPr>
            <p:cNvPr id="27" name="Rectangle 27"/>
            <p:cNvSpPr/>
            <p:nvPr/>
          </p:nvSpPr>
          <p:spPr>
            <a:xfrm>
              <a:off x="8763000" y="1657350"/>
              <a:ext cx="2819400" cy="3638550"/>
            </a:xfrm>
            <a:prstGeom prst="roundRect">
              <a:avLst>
                <a:gd name="adj" fmla="val 2027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056370" y="1998345"/>
              <a:ext cx="1060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CAPITAL DISCIPLINE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9092691" y="2483644"/>
              <a:ext cx="294509" cy="271462"/>
              <a:chOff x="9092691" y="2483644"/>
              <a:chExt cx="294509" cy="2714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9092691" y="2483644"/>
                <a:ext cx="294509" cy="269139"/>
              </a:xfrm>
              <a:custGeom>
                <a:avLst/>
                <a:gdLst/>
                <a:ahLst/>
                <a:cxnLst/>
                <a:rect l="l" t="t" r="r" b="b"/>
                <a:pathLst>
                  <a:path w="294509" h="269139">
                    <a:moveTo>
                      <a:pt x="147940" y="269139"/>
                    </a:moveTo>
                    <a:cubicBezTo>
                      <a:pt x="53463" y="239854"/>
                      <a:pt x="0" y="140141"/>
                      <a:pt x="27893" y="45244"/>
                    </a:cubicBezTo>
                    <a:cubicBezTo>
                      <a:pt x="74879" y="47394"/>
                      <a:pt x="120857" y="31166"/>
                      <a:pt x="156084" y="0"/>
                    </a:cubicBezTo>
                    <a:cubicBezTo>
                      <a:pt x="191311" y="31166"/>
                      <a:pt x="237288" y="47394"/>
                      <a:pt x="284274" y="45244"/>
                    </a:cubicBezTo>
                    <a:cubicBezTo>
                      <a:pt x="294509" y="80068"/>
                      <a:pt x="294037" y="117165"/>
                      <a:pt x="282917" y="151717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294018" y="26947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583102" y="2551271"/>
              <a:ext cx="79629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风险前置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067800" y="3105150"/>
              <a:ext cx="1981200" cy="9525"/>
            </a:xfrm>
            <a:prstGeom prst="rect">
              <a:avLst/>
            </a:prstGeom>
            <a:solidFill>
              <a:srgbClr val="33516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51608" y="3386614"/>
              <a:ext cx="1400651" cy="12306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SOC2 和权限治理</a:t>
              </a:r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AI 输出可靠性</a:t>
              </a:r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客户成功 playbook</a:t>
              </a:r>
              <a:r>
                <a:rPr lang="zh-CN" sz="12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渠道伙伴验证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99122" y="6292691"/>
            <a:ext cx="25292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A9B7C7"/>
                </a:solidFill>
                <a:latin typeface="Arial"/>
                <a:ea typeface="Microsoft YaHei"/>
                <a:cs typeface="Arial"/>
              </a:rPr>
              <a:t>P09 · 融资资金集中投向可复制能力，而非过早扩张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18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FBF71">
                    <a:alpha val="24000"/>
                  </a:srgbClr>
                </a:gs>
                <a:gs pos="100000">
                  <a:srgbClr val="2FBF71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09600" y="5867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33516D">
                  <a:alpha val="55000"/>
                </a:srgb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22935" y="732949"/>
            <a:ext cx="5779770" cy="3024663"/>
            <a:chOff x="622935" y="732949"/>
            <a:chExt cx="5779770" cy="3024663"/>
          </a:xfrm>
        </p:grpSpPr>
        <p:sp>
          <p:nvSpPr>
            <p:cNvPr id="6" name="TextBox 6"/>
            <p:cNvSpPr txBox="1"/>
            <p:nvPr/>
          </p:nvSpPr>
          <p:spPr>
            <a:xfrm>
              <a:off x="673418" y="732949"/>
              <a:ext cx="11494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FBF71"/>
                  </a:solidFill>
                  <a:latin typeface="Consolas"/>
                  <a:ea typeface="Microsoft YaHei"/>
                  <a:cs typeface="Consolas"/>
                </a:rPr>
                <a:t>09 · FINANCING ASK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2935" y="1446848"/>
              <a:ext cx="5406390" cy="17487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850"/>
                </a:lnSpc>
              </a:pPr>
              <a:r>
                <a:rPr lang="zh-CN" sz="49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本轮融资买的是</a:t>
              </a:r>
              <a:r>
                <a:rPr lang="zh-CN" sz="49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可验证的增长拐点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02945" y="3098482"/>
              <a:ext cx="5699760" cy="6591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资金用于把已经出现的产品牵引力，转化为可复制的收入增长</a:t>
              </a:r>
              <a:r>
                <a:rPr lang="zh-CN" sz="1650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和企业级交付能力。融资金额可按实际计划替换。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1303" y="1104900"/>
            <a:ext cx="3275297" cy="3212145"/>
            <a:chOff x="7621303" y="1104900"/>
            <a:chExt cx="3275297" cy="3212145"/>
          </a:xfrm>
        </p:grpSpPr>
        <p:sp>
          <p:nvSpPr>
            <p:cNvPr id="10" name="Rectangle 10"/>
            <p:cNvSpPr/>
            <p:nvPr/>
          </p:nvSpPr>
          <p:spPr>
            <a:xfrm>
              <a:off x="7734300" y="1104900"/>
              <a:ext cx="3162300" cy="3162300"/>
            </a:xfrm>
            <a:prstGeom prst="roundRect">
              <a:avLst>
                <a:gd name="adj" fmla="val 50000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315450" y="1181100"/>
              <a:ext cx="1574426" cy="2152650"/>
            </a:xfrm>
            <a:custGeom>
              <a:avLst/>
              <a:gdLst/>
              <a:ahLst/>
              <a:cxnLst/>
              <a:rect l="l" t="t" r="r" b="b"/>
              <a:pathLst>
                <a:path w="1574426" h="2152650">
                  <a:moveTo>
                    <a:pt x="0" y="1504950"/>
                  </a:moveTo>
                  <a:lnTo>
                    <a:pt x="0" y="0"/>
                  </a:lnTo>
                  <a:cubicBezTo>
                    <a:pt x="515521" y="2016"/>
                    <a:pt x="994138" y="267766"/>
                    <a:pt x="1268406" y="704278"/>
                  </a:cubicBezTo>
                  <a:cubicBezTo>
                    <a:pt x="1542675" y="1140790"/>
                    <a:pt x="1574426" y="1687314"/>
                    <a:pt x="1352550" y="2152650"/>
                  </a:cubicBezTo>
                  <a:close/>
                </a:path>
              </a:pathLst>
            </a:custGeom>
            <a:solidFill>
              <a:srgbClr val="2FBF71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305800" y="2686050"/>
              <a:ext cx="2362200" cy="1630995"/>
            </a:xfrm>
            <a:custGeom>
              <a:avLst/>
              <a:gdLst/>
              <a:ahLst/>
              <a:cxnLst/>
              <a:rect l="l" t="t" r="r" b="b"/>
              <a:pathLst>
                <a:path w="2362200" h="1630995">
                  <a:moveTo>
                    <a:pt x="1009650" y="0"/>
                  </a:moveTo>
                  <a:lnTo>
                    <a:pt x="2362200" y="647700"/>
                  </a:lnTo>
                  <a:cubicBezTo>
                    <a:pt x="2174025" y="1088209"/>
                    <a:pt x="1787383" y="1412825"/>
                    <a:pt x="1320951" y="1521910"/>
                  </a:cubicBezTo>
                  <a:cubicBezTo>
                    <a:pt x="854520" y="1630995"/>
                    <a:pt x="364017" y="1511517"/>
                    <a:pt x="0" y="1200150"/>
                  </a:cubicBezTo>
                  <a:close/>
                </a:path>
              </a:pathLst>
            </a:custGeom>
            <a:solidFill>
              <a:srgbClr val="7B61FF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621303" y="1943100"/>
              <a:ext cx="1694147" cy="1943100"/>
            </a:xfrm>
            <a:custGeom>
              <a:avLst/>
              <a:gdLst/>
              <a:ahLst/>
              <a:cxnLst/>
              <a:rect l="l" t="t" r="r" b="b"/>
              <a:pathLst>
                <a:path w="1694147" h="1943100">
                  <a:moveTo>
                    <a:pt x="1694147" y="742950"/>
                  </a:moveTo>
                  <a:lnTo>
                    <a:pt x="684497" y="1943100"/>
                  </a:lnTo>
                  <a:cubicBezTo>
                    <a:pt x="121501" y="1455370"/>
                    <a:pt x="0" y="629163"/>
                    <a:pt x="398747" y="0"/>
                  </a:cubicBezTo>
                  <a:close/>
                </a:path>
              </a:pathLst>
            </a:custGeom>
            <a:solidFill>
              <a:srgbClr val="F7F4ED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8020050" y="1181100"/>
              <a:ext cx="1295400" cy="1504950"/>
            </a:xfrm>
            <a:custGeom>
              <a:avLst/>
              <a:gdLst/>
              <a:ahLst/>
              <a:cxnLst/>
              <a:rect l="l" t="t" r="r" b="b"/>
              <a:pathLst>
                <a:path w="1295400" h="1504950">
                  <a:moveTo>
                    <a:pt x="1295400" y="1504950"/>
                  </a:moveTo>
                  <a:lnTo>
                    <a:pt x="0" y="762000"/>
                  </a:lnTo>
                  <a:cubicBezTo>
                    <a:pt x="264992" y="295142"/>
                    <a:pt x="758600" y="4784"/>
                    <a:pt x="1295400" y="0"/>
                  </a:cubicBezTo>
                  <a:close/>
                </a:path>
              </a:pathLst>
            </a:custGeom>
            <a:solidFill>
              <a:srgbClr val="33516D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496300" y="1866900"/>
              <a:ext cx="1638300" cy="1638300"/>
            </a:xfrm>
            <a:prstGeom prst="ellipse">
              <a:avLst/>
            </a:prstGeom>
            <a:solidFill>
              <a:srgbClr val="101820"/>
            </a:solidFill>
            <a:ln w="9525">
              <a:solidFill>
                <a:srgbClr val="33516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56796" y="236696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7F4ED"/>
                  </a:solidFill>
                  <a:latin typeface="Georgia"/>
                  <a:ea typeface="SimSun"/>
                  <a:cs typeface="Georgia"/>
                </a:rPr>
                <a:t>资金用途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60250" y="2809399"/>
              <a:ext cx="11104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18 MONTH RUNWAY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0" y="4667250"/>
            <a:ext cx="1658112" cy="1276350"/>
            <a:chOff x="7620000" y="4667250"/>
            <a:chExt cx="1658112" cy="1276350"/>
          </a:xfrm>
        </p:grpSpPr>
        <p:sp>
          <p:nvSpPr>
            <p:cNvPr id="19" name="Rectangle 19"/>
            <p:cNvSpPr/>
            <p:nvPr/>
          </p:nvSpPr>
          <p:spPr>
            <a:xfrm>
              <a:off x="7620000" y="466725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2FBF7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71460" y="4671060"/>
              <a:ext cx="1406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45% 产品与 AI 研发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0" y="501015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7B61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71460" y="5013960"/>
              <a:ext cx="1174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30% 销售与市场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0" y="535305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F7F4ED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71460" y="5356860"/>
              <a:ext cx="1014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15% 客户成功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0" y="569595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33516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71460" y="5699760"/>
              <a:ext cx="1014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10% 安全合规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800" y="4343400"/>
            <a:ext cx="5524500" cy="990600"/>
            <a:chOff x="685800" y="4343400"/>
            <a:chExt cx="5524500" cy="990600"/>
          </a:xfrm>
        </p:grpSpPr>
        <p:sp>
          <p:nvSpPr>
            <p:cNvPr id="28" name="Rectangle 28"/>
            <p:cNvSpPr/>
            <p:nvPr/>
          </p:nvSpPr>
          <p:spPr>
            <a:xfrm>
              <a:off x="685800" y="4343400"/>
              <a:ext cx="5524500" cy="990600"/>
            </a:xfrm>
            <a:prstGeom prst="roundRect">
              <a:avLst>
                <a:gd name="adj" fmla="val 5769"/>
              </a:avLst>
            </a:prstGeom>
            <a:solidFill>
              <a:srgbClr val="142235"/>
            </a:solidFill>
            <a:ln w="9525">
              <a:solidFill>
                <a:srgbClr val="33516D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1033462" y="4691062"/>
              <a:ext cx="257175" cy="257175"/>
              <a:chOff x="1033462" y="4691062"/>
              <a:chExt cx="257175" cy="25717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147762" y="48053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90612" y="47482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33462" y="46910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512570" y="4646295"/>
              <a:ext cx="7009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9B7C7"/>
                  </a:solidFill>
                  <a:latin typeface="Consolas"/>
                  <a:ea typeface="Microsoft YaHei"/>
                  <a:cs typeface="Consolas"/>
                </a:rPr>
                <a:t>MILESTONES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05902" y="4894421"/>
              <a:ext cx="446374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7F4ED"/>
                  </a:solidFill>
                  <a:latin typeface="Arial"/>
                  <a:ea typeface="Microsoft YaHei"/>
                  <a:cs typeface="Arial"/>
                </a:rPr>
                <a:t>ARR、NRR、企业客户数、安全合规与可复制销售模型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3418" y="6162675"/>
            <a:ext cx="10651807" cy="254794"/>
            <a:chOff x="673418" y="6162675"/>
            <a:chExt cx="10651807" cy="254794"/>
          </a:xfrm>
        </p:grpSpPr>
        <p:sp>
          <p:nvSpPr>
            <p:cNvPr id="36" name="TextBox 36"/>
            <p:cNvSpPr txBox="1"/>
            <p:nvPr/>
          </p:nvSpPr>
          <p:spPr>
            <a:xfrm>
              <a:off x="673418" y="6219349"/>
              <a:ext cx="23845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A9B7C7"/>
                  </a:solidFill>
                  <a:latin typeface="Arial"/>
                  <a:ea typeface="Microsoft YaHei"/>
                  <a:cs typeface="Arial"/>
                </a:rPr>
                <a:t>谢谢 · 联系方式和融资条款可在此处替换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1130964" y="6162675"/>
              <a:ext cx="194261" cy="194261"/>
              <a:chOff x="11130964" y="6162675"/>
              <a:chExt cx="194261" cy="19426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1134725" y="61626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107156"/>
                    </a:moveTo>
                    <a:cubicBezTo>
                      <a:pt x="43698" y="112349"/>
                      <a:pt x="78151" y="146802"/>
                      <a:pt x="83344" y="190500"/>
                    </a:cubicBezTo>
                    <a:cubicBezTo>
                      <a:pt x="104740" y="178165"/>
                      <a:pt x="118247" y="155653"/>
                      <a:pt x="119062" y="130969"/>
                    </a:cubicBezTo>
                    <a:cubicBezTo>
                      <a:pt x="159946" y="116587"/>
                      <a:pt x="188140" y="78994"/>
                      <a:pt x="190500" y="35719"/>
                    </a:cubicBezTo>
                    <a:cubicBezTo>
                      <a:pt x="190500" y="15992"/>
                      <a:pt x="174508" y="0"/>
                      <a:pt x="154781" y="0"/>
                    </a:cubicBezTo>
                    <a:cubicBezTo>
                      <a:pt x="111506" y="2360"/>
                      <a:pt x="73913" y="30554"/>
                      <a:pt x="59531" y="71438"/>
                    </a:cubicBezTo>
                    <a:cubicBezTo>
                      <a:pt x="34847" y="72253"/>
                      <a:pt x="12335" y="85760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1130964" y="6281738"/>
                <a:ext cx="75198" cy="75198"/>
              </a:xfrm>
              <a:custGeom>
                <a:avLst/>
                <a:gdLst/>
                <a:ahLst/>
                <a:cxnLst/>
                <a:rect l="l" t="t" r="r" b="b"/>
                <a:pathLst>
                  <a:path w="75198" h="75198">
                    <a:moveTo>
                      <a:pt x="39479" y="0"/>
                    </a:moveTo>
                    <a:cubicBezTo>
                      <a:pt x="14130" y="14311"/>
                      <a:pt x="0" y="42572"/>
                      <a:pt x="3761" y="71438"/>
                    </a:cubicBezTo>
                    <a:cubicBezTo>
                      <a:pt x="32627" y="75198"/>
                      <a:pt x="60887" y="61068"/>
                      <a:pt x="75198" y="35719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1253788" y="6210300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2FBF71"/>
                </a:solidFill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2026-06-20T17:49:23Z</dcterms:created>
  <dcterms:modified xsi:type="dcterms:W3CDTF">2026-06-20T17:49:23Z</dcterms:modified>
  <cp:category/>
  <cp:contentStatus/>
</cp:coreProperties>
</file>